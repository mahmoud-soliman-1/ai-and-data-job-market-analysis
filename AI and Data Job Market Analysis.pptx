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charset="1" panose="00000500000000000000"/>
      <p:regular r:id="rId23"/>
    </p:embeddedFont>
    <p:embeddedFont>
      <p:font typeface="Poppins Light" charset="1" panose="00000400000000000000"/>
      <p:regular r:id="rId24"/>
    </p:embeddedFont>
    <p:embeddedFont>
      <p:font typeface="Poppins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dashboard provides an overview of the AI &amp; Data job market, focusing on job volume, salary levels, remote work, and workforce distribution.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هنا هتتكلم عن التغير ف المرتب وعدد الوظايف وممكن تشرح حتة 2023 انها بتبقي اعلي من 2024 وده بسبب القفذه لدخول ال Ai models  زي شات جي بي تي فبقت تريند اثر لكن بعد كده نقدر نقول زي 2024 الصعود كمل بس بطبيعيه واسال شات برده تظظبها ازاي</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بنستخدم ال median  لان في قيم كبيره كده وبرده فنفس الوقت القيم دي مهمه مش عاوزين نهملها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بنستخدم ال median  لان في قيم كبيره كده وبرده فنفس الوقت القيم دي مهمه مش عاوزين نهملها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بنستخدم ال median  لان في قيم كبيره كده وبرده فنفس الوقت القيم دي مهمه مش عاوزين نهملها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بنستخدم ال median  لان في قيم كبيره كده وبرده فنفس الوقت القيم دي مهمه مش عاوزين نهملها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84134" y="1702613"/>
            <a:ext cx="16230600" cy="6881774"/>
          </a:xfrm>
          <a:custGeom>
            <a:avLst/>
            <a:gdLst/>
            <a:ahLst/>
            <a:cxnLst/>
            <a:rect r="r" b="b" t="t" l="l"/>
            <a:pathLst>
              <a:path h="6881774" w="16230600">
                <a:moveTo>
                  <a:pt x="0" y="0"/>
                </a:moveTo>
                <a:lnTo>
                  <a:pt x="16230600" y="0"/>
                </a:lnTo>
                <a:lnTo>
                  <a:pt x="16230600" y="6881774"/>
                </a:lnTo>
                <a:lnTo>
                  <a:pt x="0" y="6881774"/>
                </a:lnTo>
                <a:lnTo>
                  <a:pt x="0" y="0"/>
                </a:lnTo>
                <a:close/>
              </a:path>
            </a:pathLst>
          </a:custGeom>
          <a:blipFill>
            <a:blip r:embed="rId2">
              <a:alphaModFix amt="60000"/>
            </a:blip>
            <a:stretch>
              <a:fillRect l="0" t="0" r="0" b="0"/>
            </a:stretch>
          </a:blipFill>
        </p:spPr>
      </p:sp>
      <p:sp>
        <p:nvSpPr>
          <p:cNvPr name="TextBox 3" id="3"/>
          <p:cNvSpPr txBox="true"/>
          <p:nvPr/>
        </p:nvSpPr>
        <p:spPr>
          <a:xfrm rot="0">
            <a:off x="2571750" y="3496256"/>
            <a:ext cx="13937284" cy="3041023"/>
          </a:xfrm>
          <a:prstGeom prst="rect">
            <a:avLst/>
          </a:prstGeom>
        </p:spPr>
        <p:txBody>
          <a:bodyPr anchor="t" rtlCol="false" tIns="0" lIns="0" bIns="0" rIns="0">
            <a:spAutoFit/>
          </a:bodyPr>
          <a:lstStyle/>
          <a:p>
            <a:pPr algn="l">
              <a:lnSpc>
                <a:spcPts val="12699"/>
              </a:lnSpc>
            </a:pPr>
            <a:r>
              <a:rPr lang="en-US" sz="12699" spc="-253">
                <a:solidFill>
                  <a:srgbClr val="FFFFFF"/>
                </a:solidFill>
                <a:latin typeface="Poppins"/>
                <a:ea typeface="Poppins"/>
                <a:cs typeface="Poppins"/>
                <a:sym typeface="Poppins"/>
              </a:rPr>
              <a:t>AI &amp; DATA </a:t>
            </a:r>
          </a:p>
          <a:p>
            <a:pPr algn="l">
              <a:lnSpc>
                <a:spcPts val="10000"/>
              </a:lnSpc>
            </a:pPr>
            <a:r>
              <a:rPr lang="en-US" sz="10000" spc="-200">
                <a:solidFill>
                  <a:srgbClr val="FFFFFF"/>
                </a:solidFill>
                <a:latin typeface="Poppins"/>
                <a:ea typeface="Poppins"/>
                <a:cs typeface="Poppins"/>
                <a:sym typeface="Poppins"/>
              </a:rPr>
              <a:t>JOB MARKET ANALYSIS</a:t>
            </a:r>
          </a:p>
        </p:txBody>
      </p:sp>
      <p:sp>
        <p:nvSpPr>
          <p:cNvPr name="TextBox 4" id="4"/>
          <p:cNvSpPr txBox="true"/>
          <p:nvPr/>
        </p:nvSpPr>
        <p:spPr>
          <a:xfrm rot="0">
            <a:off x="2571750" y="8114719"/>
            <a:ext cx="3874915" cy="264795"/>
          </a:xfrm>
          <a:prstGeom prst="rect">
            <a:avLst/>
          </a:prstGeom>
        </p:spPr>
        <p:txBody>
          <a:bodyPr anchor="t" rtlCol="false" tIns="0" lIns="0" bIns="0" rIns="0">
            <a:spAutoFit/>
          </a:bodyPr>
          <a:lstStyle/>
          <a:p>
            <a:pPr algn="l">
              <a:lnSpc>
                <a:spcPts val="1800"/>
              </a:lnSpc>
            </a:pPr>
            <a:r>
              <a:rPr lang="en-US" sz="1800">
                <a:solidFill>
                  <a:srgbClr val="FFFFFF"/>
                </a:solidFill>
                <a:latin typeface="Poppins"/>
                <a:ea typeface="Poppins"/>
                <a:cs typeface="Poppins"/>
                <a:sym typeface="Poppins"/>
              </a:rPr>
              <a:t>MAHMOUD MOHAMED SOLIMAN</a:t>
            </a:r>
          </a:p>
        </p:txBody>
      </p:sp>
      <p:sp>
        <p:nvSpPr>
          <p:cNvPr name="TextBox 5" id="5"/>
          <p:cNvSpPr txBox="true"/>
          <p:nvPr/>
        </p:nvSpPr>
        <p:spPr>
          <a:xfrm rot="0">
            <a:off x="13294529" y="8114719"/>
            <a:ext cx="2421721" cy="264795"/>
          </a:xfrm>
          <a:prstGeom prst="rect">
            <a:avLst/>
          </a:prstGeom>
        </p:spPr>
        <p:txBody>
          <a:bodyPr anchor="t" rtlCol="false" tIns="0" lIns="0" bIns="0" rIns="0">
            <a:spAutoFit/>
          </a:bodyPr>
          <a:lstStyle/>
          <a:p>
            <a:pPr algn="r">
              <a:lnSpc>
                <a:spcPts val="1800"/>
              </a:lnSpc>
            </a:pPr>
            <a:r>
              <a:rPr lang="en-US" sz="1800">
                <a:solidFill>
                  <a:srgbClr val="FFFFFF"/>
                </a:solidFill>
                <a:latin typeface="Poppins Light"/>
                <a:ea typeface="Poppins Light"/>
                <a:cs typeface="Poppins Light"/>
                <a:sym typeface="Poppins Light"/>
              </a:rPr>
              <a:t>Junior Data Analyst</a:t>
            </a:r>
          </a:p>
        </p:txBody>
      </p:sp>
      <p:grpSp>
        <p:nvGrpSpPr>
          <p:cNvPr name="Group 6" id="6"/>
          <p:cNvGrpSpPr/>
          <p:nvPr/>
        </p:nvGrpSpPr>
        <p:grpSpPr>
          <a:xfrm rot="0">
            <a:off x="15345378" y="1905000"/>
            <a:ext cx="370872" cy="384751"/>
            <a:chOff x="0" y="0"/>
            <a:chExt cx="494495" cy="513001"/>
          </a:xfrm>
        </p:grpSpPr>
        <p:sp>
          <p:nvSpPr>
            <p:cNvPr name="AutoShape 7" id="7"/>
            <p:cNvSpPr/>
            <p:nvPr/>
          </p:nvSpPr>
          <p:spPr>
            <a:xfrm>
              <a:off x="13740" y="19050"/>
              <a:ext cx="480755" cy="0"/>
            </a:xfrm>
            <a:prstGeom prst="line">
              <a:avLst/>
            </a:prstGeom>
            <a:ln cap="flat" w="38100">
              <a:solidFill>
                <a:srgbClr val="FFFFFF"/>
              </a:solidFill>
              <a:prstDash val="solid"/>
              <a:headEnd type="none" len="sm" w="sm"/>
              <a:tailEnd type="none" len="sm" w="sm"/>
            </a:ln>
          </p:spPr>
        </p:sp>
        <p:sp>
          <p:nvSpPr>
            <p:cNvPr name="AutoShape 8" id="8"/>
            <p:cNvSpPr/>
            <p:nvPr/>
          </p:nvSpPr>
          <p:spPr>
            <a:xfrm flipV="true">
              <a:off x="475445" y="19050"/>
              <a:ext cx="0" cy="480755"/>
            </a:xfrm>
            <a:prstGeom prst="line">
              <a:avLst/>
            </a:prstGeom>
            <a:ln cap="flat" w="38100">
              <a:solidFill>
                <a:srgbClr val="FFFFFF"/>
              </a:solidFill>
              <a:prstDash val="solid"/>
              <a:headEnd type="none" len="sm" w="sm"/>
              <a:tailEnd type="none" len="sm" w="sm"/>
            </a:ln>
          </p:spPr>
        </p:sp>
        <p:sp>
          <p:nvSpPr>
            <p:cNvPr name="AutoShape 9" id="9"/>
            <p:cNvSpPr/>
            <p:nvPr/>
          </p:nvSpPr>
          <p:spPr>
            <a:xfrm flipV="true">
              <a:off x="13740" y="19050"/>
              <a:ext cx="461705" cy="480755"/>
            </a:xfrm>
            <a:prstGeom prst="line">
              <a:avLst/>
            </a:prstGeom>
            <a:ln cap="flat" w="38100">
              <a:solidFill>
                <a:srgbClr val="FFFFFF"/>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41001" t="0" r="-40793" b="0"/>
            </a:stretch>
          </a:blipFill>
        </p:spPr>
      </p:sp>
      <p:grpSp>
        <p:nvGrpSpPr>
          <p:cNvPr name="Group 3" id="3"/>
          <p:cNvGrpSpPr/>
          <p:nvPr/>
        </p:nvGrpSpPr>
        <p:grpSpPr>
          <a:xfrm rot="0">
            <a:off x="4610278" y="0"/>
            <a:ext cx="3876497" cy="10287000"/>
            <a:chOff x="0" y="0"/>
            <a:chExt cx="1020970" cy="2709333"/>
          </a:xfrm>
        </p:grpSpPr>
        <p:sp>
          <p:nvSpPr>
            <p:cNvPr name="Freeform 4" id="4"/>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true" flipV="false" rot="0">
            <a:off x="7881015" y="-1112315"/>
            <a:ext cx="16230600" cy="6881774"/>
          </a:xfrm>
          <a:custGeom>
            <a:avLst/>
            <a:gdLst/>
            <a:ahLst/>
            <a:cxnLst/>
            <a:rect r="r" b="b" t="t" l="l"/>
            <a:pathLst>
              <a:path h="6881774" w="16230600">
                <a:moveTo>
                  <a:pt x="16230600" y="0"/>
                </a:moveTo>
                <a:lnTo>
                  <a:pt x="0" y="0"/>
                </a:lnTo>
                <a:lnTo>
                  <a:pt x="0" y="6881774"/>
                </a:lnTo>
                <a:lnTo>
                  <a:pt x="16230600" y="6881774"/>
                </a:lnTo>
                <a:lnTo>
                  <a:pt x="16230600" y="0"/>
                </a:lnTo>
                <a:close/>
              </a:path>
            </a:pathLst>
          </a:custGeom>
          <a:blipFill>
            <a:blip r:embed="rId3">
              <a:alphaModFix amt="60000"/>
            </a:blip>
            <a:stretch>
              <a:fillRect l="0" t="0" r="0" b="0"/>
            </a:stretch>
          </a:blipFill>
        </p:spPr>
      </p:sp>
      <p:sp>
        <p:nvSpPr>
          <p:cNvPr name="AutoShape 7" id="7"/>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9810750" y="1952625"/>
            <a:ext cx="590550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INTRODUCTION</a:t>
            </a:r>
          </a:p>
        </p:txBody>
      </p:sp>
      <p:sp>
        <p:nvSpPr>
          <p:cNvPr name="TextBox 9" id="9"/>
          <p:cNvSpPr txBox="true"/>
          <p:nvPr/>
        </p:nvSpPr>
        <p:spPr>
          <a:xfrm rot="0">
            <a:off x="9810750" y="3973480"/>
            <a:ext cx="7206389" cy="111823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Th</a:t>
            </a:r>
            <a:r>
              <a:rPr lang="en-US" sz="2100">
                <a:solidFill>
                  <a:srgbClr val="FFFFFF"/>
                </a:solidFill>
                <a:latin typeface="Poppins"/>
                <a:ea typeface="Poppins"/>
                <a:cs typeface="Poppins"/>
                <a:sym typeface="Poppins"/>
              </a:rPr>
              <a:t>e AI and Data industry has experienced significant changes in job opportunities, salaries, and work arrangements over the past few years.</a:t>
            </a:r>
          </a:p>
        </p:txBody>
      </p:sp>
      <p:sp>
        <p:nvSpPr>
          <p:cNvPr name="TextBox 10" id="10"/>
          <p:cNvSpPr txBox="true"/>
          <p:nvPr/>
        </p:nvSpPr>
        <p:spPr>
          <a:xfrm rot="0">
            <a:off x="9810750" y="5425253"/>
            <a:ext cx="7206389" cy="1664335"/>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IN this project analyzes AI and Data job market data from 2020 to 2024 to explore salary trends and the factors influencing compensation, such as experience level, company size, and work type.</a:t>
            </a:r>
          </a:p>
          <a:p>
            <a:pPr algn="l">
              <a:lnSpc>
                <a:spcPts val="2239"/>
              </a:lnSpc>
            </a:pPr>
            <a:r>
              <a:rPr lang="en-US" sz="1599">
                <a:solidFill>
                  <a:srgbClr val="C3C5C6"/>
                </a:solidFill>
                <a:latin typeface="Poppins Light"/>
                <a:ea typeface="Poppins Light"/>
                <a:cs typeface="Poppins Light"/>
                <a:sym typeface="Poppins Light"/>
              </a:rPr>
              <a:t>Using Python for data preparation and Power BI for visualization, the project aims to provide insights that support data-driven HR decisions.</a:t>
            </a:r>
          </a:p>
          <a:p>
            <a:pPr algn="l">
              <a:lnSpc>
                <a:spcPts val="223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TextBox 3" id="3"/>
          <p:cNvSpPr txBox="true"/>
          <p:nvPr/>
        </p:nvSpPr>
        <p:spPr>
          <a:xfrm rot="0">
            <a:off x="5630990" y="4700878"/>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BUSINESS CASE</a:t>
            </a:r>
          </a:p>
        </p:txBody>
      </p:sp>
      <p:sp>
        <p:nvSpPr>
          <p:cNvPr name="AutoShape 4" id="4"/>
          <p:cNvSpPr/>
          <p:nvPr/>
        </p:nvSpPr>
        <p:spPr>
          <a:xfrm>
            <a:off x="8860051" y="5614697"/>
            <a:ext cx="567898" cy="0"/>
          </a:xfrm>
          <a:prstGeom prst="line">
            <a:avLst/>
          </a:prstGeom>
          <a:ln cap="flat" w="38100">
            <a:solidFill>
              <a:srgbClr val="D2B99A"/>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169819" y="-2496048"/>
            <a:ext cx="21842778" cy="9261338"/>
          </a:xfrm>
          <a:custGeom>
            <a:avLst/>
            <a:gdLst/>
            <a:ahLst/>
            <a:cxnLst/>
            <a:rect r="r" b="b" t="t" l="l"/>
            <a:pathLst>
              <a:path h="9261338" w="21842778">
                <a:moveTo>
                  <a:pt x="0" y="0"/>
                </a:moveTo>
                <a:lnTo>
                  <a:pt x="21842778" y="0"/>
                </a:lnTo>
                <a:lnTo>
                  <a:pt x="21842778" y="9261338"/>
                </a:lnTo>
                <a:lnTo>
                  <a:pt x="0" y="9261338"/>
                </a:lnTo>
                <a:lnTo>
                  <a:pt x="0" y="0"/>
                </a:lnTo>
                <a:close/>
              </a:path>
            </a:pathLst>
          </a:custGeom>
          <a:blipFill>
            <a:blip r:embed="rId2">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4029418" y="4567002"/>
            <a:ext cx="797933" cy="643808"/>
          </a:xfrm>
          <a:custGeom>
            <a:avLst/>
            <a:gdLst/>
            <a:ahLst/>
            <a:cxnLst/>
            <a:rect r="r" b="b" t="t" l="l"/>
            <a:pathLst>
              <a:path h="643808" w="797933">
                <a:moveTo>
                  <a:pt x="0" y="0"/>
                </a:moveTo>
                <a:lnTo>
                  <a:pt x="797934" y="0"/>
                </a:lnTo>
                <a:lnTo>
                  <a:pt x="797934" y="643808"/>
                </a:lnTo>
                <a:lnTo>
                  <a:pt x="0" y="643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771435" y="4567002"/>
            <a:ext cx="747034" cy="643808"/>
          </a:xfrm>
          <a:custGeom>
            <a:avLst/>
            <a:gdLst/>
            <a:ahLst/>
            <a:cxnLst/>
            <a:rect r="r" b="b" t="t" l="l"/>
            <a:pathLst>
              <a:path h="643808" w="747034">
                <a:moveTo>
                  <a:pt x="0" y="0"/>
                </a:moveTo>
                <a:lnTo>
                  <a:pt x="747035" y="0"/>
                </a:lnTo>
                <a:lnTo>
                  <a:pt x="747035" y="643808"/>
                </a:lnTo>
                <a:lnTo>
                  <a:pt x="0" y="6438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345079" y="4567002"/>
            <a:ext cx="804706" cy="643808"/>
          </a:xfrm>
          <a:custGeom>
            <a:avLst/>
            <a:gdLst/>
            <a:ahLst/>
            <a:cxnLst/>
            <a:rect r="r" b="b" t="t" l="l"/>
            <a:pathLst>
              <a:path h="643808" w="804706">
                <a:moveTo>
                  <a:pt x="0" y="0"/>
                </a:moveTo>
                <a:lnTo>
                  <a:pt x="804707" y="0"/>
                </a:lnTo>
                <a:lnTo>
                  <a:pt x="804707" y="643808"/>
                </a:lnTo>
                <a:lnTo>
                  <a:pt x="0" y="6438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571750" y="1952625"/>
            <a:ext cx="742654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BUS</a:t>
            </a:r>
            <a:r>
              <a:rPr lang="en-US" sz="5600">
                <a:solidFill>
                  <a:srgbClr val="FFFFFF"/>
                </a:solidFill>
                <a:latin typeface="Poppins Light"/>
                <a:ea typeface="Poppins Light"/>
                <a:cs typeface="Poppins Light"/>
                <a:sym typeface="Poppins Light"/>
              </a:rPr>
              <a:t>INESS PROBLEM</a:t>
            </a:r>
          </a:p>
        </p:txBody>
      </p:sp>
      <p:sp>
        <p:nvSpPr>
          <p:cNvPr name="TextBox 8" id="8"/>
          <p:cNvSpPr txBox="true"/>
          <p:nvPr/>
        </p:nvSpPr>
        <p:spPr>
          <a:xfrm rot="0">
            <a:off x="2571750" y="5755640"/>
            <a:ext cx="3713270" cy="1861185"/>
          </a:xfrm>
          <a:prstGeom prst="rect">
            <a:avLst/>
          </a:prstGeom>
        </p:spPr>
        <p:txBody>
          <a:bodyPr anchor="t" rtlCol="false" tIns="0" lIns="0" bIns="0" rIns="0">
            <a:spAutoFit/>
          </a:bodyPr>
          <a:lstStyle/>
          <a:p>
            <a:pPr algn="ctr">
              <a:lnSpc>
                <a:spcPts val="2939"/>
              </a:lnSpc>
            </a:pPr>
            <a:r>
              <a:rPr lang="en-US" sz="2099" b="true">
                <a:solidFill>
                  <a:srgbClr val="C3C5C6"/>
                </a:solidFill>
                <a:latin typeface="Poppins Bold"/>
                <a:ea typeface="Poppins Bold"/>
                <a:cs typeface="Poppins Bold"/>
                <a:sym typeface="Poppins Bold"/>
              </a:rPr>
              <a:t>HR teams need a clearer understanding of how the AI and Data job market has evolved between 2020 and 2024.</a:t>
            </a:r>
          </a:p>
        </p:txBody>
      </p:sp>
      <p:sp>
        <p:nvSpPr>
          <p:cNvPr name="TextBox 9" id="9"/>
          <p:cNvSpPr txBox="true"/>
          <p:nvPr/>
        </p:nvSpPr>
        <p:spPr>
          <a:xfrm rot="0">
            <a:off x="7176135" y="5755640"/>
            <a:ext cx="3937635" cy="2604135"/>
          </a:xfrm>
          <a:prstGeom prst="rect">
            <a:avLst/>
          </a:prstGeom>
        </p:spPr>
        <p:txBody>
          <a:bodyPr anchor="t" rtlCol="false" tIns="0" lIns="0" bIns="0" rIns="0">
            <a:spAutoFit/>
          </a:bodyPr>
          <a:lstStyle/>
          <a:p>
            <a:pPr algn="ctr">
              <a:lnSpc>
                <a:spcPts val="2939"/>
              </a:lnSpc>
            </a:pPr>
            <a:r>
              <a:rPr lang="en-US" sz="2099" b="true">
                <a:solidFill>
                  <a:srgbClr val="C3C5C6"/>
                </a:solidFill>
                <a:latin typeface="Poppins Bold"/>
                <a:ea typeface="Poppins Bold"/>
                <a:cs typeface="Poppins Bold"/>
                <a:sym typeface="Poppins Bold"/>
              </a:rPr>
              <a:t>The analysis focuses on identifying changes in salary levels, job market activity, and compensation differences across various employee and company characteristics.</a:t>
            </a:r>
          </a:p>
        </p:txBody>
      </p:sp>
      <p:sp>
        <p:nvSpPr>
          <p:cNvPr name="TextBox 10" id="10"/>
          <p:cNvSpPr txBox="true"/>
          <p:nvPr/>
        </p:nvSpPr>
        <p:spPr>
          <a:xfrm rot="0">
            <a:off x="11778615" y="5755640"/>
            <a:ext cx="3937635" cy="2232660"/>
          </a:xfrm>
          <a:prstGeom prst="rect">
            <a:avLst/>
          </a:prstGeom>
        </p:spPr>
        <p:txBody>
          <a:bodyPr anchor="t" rtlCol="false" tIns="0" lIns="0" bIns="0" rIns="0">
            <a:spAutoFit/>
          </a:bodyPr>
          <a:lstStyle/>
          <a:p>
            <a:pPr algn="ctr">
              <a:lnSpc>
                <a:spcPts val="2939"/>
              </a:lnSpc>
            </a:pPr>
            <a:r>
              <a:rPr lang="en-US" sz="2099" b="true">
                <a:solidFill>
                  <a:srgbClr val="C3C5C6"/>
                </a:solidFill>
                <a:latin typeface="Poppins Bold"/>
                <a:ea typeface="Poppins Bold"/>
                <a:cs typeface="Poppins Bold"/>
                <a:sym typeface="Poppins Bold"/>
              </a:rPr>
              <a:t>By analyzing these patterns, HR professionals can gain a better understanding of the market and use data to support workforce planning and compensation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477250" y="0"/>
            <a:ext cx="9810750" cy="10287000"/>
          </a:xfrm>
          <a:custGeom>
            <a:avLst/>
            <a:gdLst/>
            <a:ahLst/>
            <a:cxnLst/>
            <a:rect r="r" b="b" t="t" l="l"/>
            <a:pathLst>
              <a:path h="10287000" w="9810750">
                <a:moveTo>
                  <a:pt x="0" y="0"/>
                </a:moveTo>
                <a:lnTo>
                  <a:pt x="9810750" y="0"/>
                </a:lnTo>
                <a:lnTo>
                  <a:pt x="9810750" y="10287000"/>
                </a:lnTo>
                <a:lnTo>
                  <a:pt x="0" y="10287000"/>
                </a:lnTo>
                <a:lnTo>
                  <a:pt x="0" y="0"/>
                </a:lnTo>
                <a:close/>
              </a:path>
            </a:pathLst>
          </a:custGeom>
          <a:blipFill>
            <a:blip r:embed="rId2"/>
            <a:stretch>
              <a:fillRect l="-28689" t="0" r="-28689" b="0"/>
            </a:stretch>
          </a:blipFill>
        </p:spPr>
      </p:sp>
      <p:grpSp>
        <p:nvGrpSpPr>
          <p:cNvPr name="Group 3" id="3"/>
          <p:cNvGrpSpPr/>
          <p:nvPr/>
        </p:nvGrpSpPr>
        <p:grpSpPr>
          <a:xfrm rot="-10800000">
            <a:off x="8467725" y="1932"/>
            <a:ext cx="4264457" cy="10287000"/>
            <a:chOff x="0" y="0"/>
            <a:chExt cx="1123149" cy="2709333"/>
          </a:xfrm>
        </p:grpSpPr>
        <p:sp>
          <p:nvSpPr>
            <p:cNvPr name="Freeform 4" id="4"/>
            <p:cNvSpPr/>
            <p:nvPr/>
          </p:nvSpPr>
          <p:spPr>
            <a:xfrm flipH="false" flipV="false" rot="0">
              <a:off x="0" y="0"/>
              <a:ext cx="1123149" cy="2709333"/>
            </a:xfrm>
            <a:custGeom>
              <a:avLst/>
              <a:gdLst/>
              <a:ahLst/>
              <a:cxnLst/>
              <a:rect r="r" b="b" t="t" l="l"/>
              <a:pathLst>
                <a:path h="2709333" w="1123149">
                  <a:moveTo>
                    <a:pt x="0" y="0"/>
                  </a:moveTo>
                  <a:lnTo>
                    <a:pt x="1123149" y="0"/>
                  </a:lnTo>
                  <a:lnTo>
                    <a:pt x="1123149"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123149"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3">
              <a:alphaModFix amt="60000"/>
            </a:blip>
            <a:stretch>
              <a:fillRect l="0" t="0" r="0" b="0"/>
            </a:stretch>
          </a:blipFill>
        </p:spPr>
      </p:sp>
      <p:sp>
        <p:nvSpPr>
          <p:cNvPr name="AutoShape 7" id="7"/>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TextBox 8" id="8"/>
          <p:cNvSpPr txBox="true"/>
          <p:nvPr/>
        </p:nvSpPr>
        <p:spPr>
          <a:xfrm rot="0">
            <a:off x="2571750" y="1952625"/>
            <a:ext cx="9427908"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KEY BUSINESS QUESTIONS</a:t>
            </a:r>
          </a:p>
        </p:txBody>
      </p:sp>
      <p:grpSp>
        <p:nvGrpSpPr>
          <p:cNvPr name="Group 9" id="9"/>
          <p:cNvGrpSpPr/>
          <p:nvPr/>
        </p:nvGrpSpPr>
        <p:grpSpPr>
          <a:xfrm rot="0">
            <a:off x="2571750" y="3361744"/>
            <a:ext cx="5698839" cy="1354115"/>
            <a:chOff x="0" y="0"/>
            <a:chExt cx="7598452" cy="1805487"/>
          </a:xfrm>
        </p:grpSpPr>
        <p:sp>
          <p:nvSpPr>
            <p:cNvPr name="TextBox 10" id="10"/>
            <p:cNvSpPr txBox="true"/>
            <p:nvPr/>
          </p:nvSpPr>
          <p:spPr>
            <a:xfrm rot="0">
              <a:off x="0" y="38100"/>
              <a:ext cx="2625090" cy="815340"/>
            </a:xfrm>
            <a:prstGeom prst="rect">
              <a:avLst/>
            </a:prstGeom>
          </p:spPr>
          <p:txBody>
            <a:bodyPr anchor="t" rtlCol="false" tIns="0" lIns="0" bIns="0" rIns="0">
              <a:spAutoFit/>
            </a:bodyPr>
            <a:lstStyle/>
            <a:p>
              <a:pPr algn="l">
                <a:lnSpc>
                  <a:spcPts val="4200"/>
                </a:lnSpc>
              </a:pPr>
              <a:r>
                <a:rPr lang="en-US" sz="4200">
                  <a:solidFill>
                    <a:srgbClr val="FFFFFF"/>
                  </a:solidFill>
                  <a:latin typeface="Poppins Light"/>
                  <a:ea typeface="Poppins Light"/>
                  <a:cs typeface="Poppins Light"/>
                  <a:sym typeface="Poppins Light"/>
                </a:rPr>
                <a:t>01</a:t>
              </a:r>
            </a:p>
          </p:txBody>
        </p:sp>
        <p:sp>
          <p:nvSpPr>
            <p:cNvPr name="TextBox 11" id="11"/>
            <p:cNvSpPr txBox="true"/>
            <p:nvPr/>
          </p:nvSpPr>
          <p:spPr>
            <a:xfrm rot="0">
              <a:off x="960657" y="136283"/>
              <a:ext cx="6637795" cy="481330"/>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Job Market TrendsJob Market Trends</a:t>
              </a:r>
            </a:p>
          </p:txBody>
        </p:sp>
        <p:sp>
          <p:nvSpPr>
            <p:cNvPr name="TextBox 12" id="12"/>
            <p:cNvSpPr txBox="true"/>
            <p:nvPr/>
          </p:nvSpPr>
          <p:spPr>
            <a:xfrm rot="0">
              <a:off x="960657" y="1075448"/>
              <a:ext cx="5250180" cy="730038"/>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H</a:t>
              </a:r>
              <a:r>
                <a:rPr lang="en-US" sz="1599">
                  <a:solidFill>
                    <a:srgbClr val="C3C5C6"/>
                  </a:solidFill>
                  <a:latin typeface="Poppins Light"/>
                  <a:ea typeface="Poppins Light"/>
                  <a:cs typeface="Poppins Light"/>
                  <a:sym typeface="Poppins Light"/>
                </a:rPr>
                <a:t>ow have salaries and job demand changed from 2020 to 2024?</a:t>
              </a:r>
            </a:p>
          </p:txBody>
        </p:sp>
      </p:grpSp>
      <p:grpSp>
        <p:nvGrpSpPr>
          <p:cNvPr name="Group 13" id="13"/>
          <p:cNvGrpSpPr/>
          <p:nvPr/>
        </p:nvGrpSpPr>
        <p:grpSpPr>
          <a:xfrm rot="0">
            <a:off x="2571750" y="5163530"/>
            <a:ext cx="4658127" cy="1630340"/>
            <a:chOff x="0" y="0"/>
            <a:chExt cx="6210837" cy="2173787"/>
          </a:xfrm>
        </p:grpSpPr>
        <p:sp>
          <p:nvSpPr>
            <p:cNvPr name="TextBox 14" id="14"/>
            <p:cNvSpPr txBox="true"/>
            <p:nvPr/>
          </p:nvSpPr>
          <p:spPr>
            <a:xfrm rot="0">
              <a:off x="0" y="38100"/>
              <a:ext cx="2625090" cy="815340"/>
            </a:xfrm>
            <a:prstGeom prst="rect">
              <a:avLst/>
            </a:prstGeom>
          </p:spPr>
          <p:txBody>
            <a:bodyPr anchor="t" rtlCol="false" tIns="0" lIns="0" bIns="0" rIns="0">
              <a:spAutoFit/>
            </a:bodyPr>
            <a:lstStyle/>
            <a:p>
              <a:pPr algn="l">
                <a:lnSpc>
                  <a:spcPts val="4200"/>
                </a:lnSpc>
              </a:pPr>
              <a:r>
                <a:rPr lang="en-US" sz="4200">
                  <a:solidFill>
                    <a:srgbClr val="FFFFFF"/>
                  </a:solidFill>
                  <a:latin typeface="Poppins Light"/>
                  <a:ea typeface="Poppins Light"/>
                  <a:cs typeface="Poppins Light"/>
                  <a:sym typeface="Poppins Light"/>
                </a:rPr>
                <a:t>02</a:t>
              </a:r>
            </a:p>
          </p:txBody>
        </p:sp>
        <p:sp>
          <p:nvSpPr>
            <p:cNvPr name="TextBox 15" id="15"/>
            <p:cNvSpPr txBox="true"/>
            <p:nvPr/>
          </p:nvSpPr>
          <p:spPr>
            <a:xfrm rot="0">
              <a:off x="960657" y="136283"/>
              <a:ext cx="5250180" cy="481330"/>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 Salary Drivers</a:t>
              </a:r>
            </a:p>
          </p:txBody>
        </p:sp>
        <p:sp>
          <p:nvSpPr>
            <p:cNvPr name="TextBox 16" id="16"/>
            <p:cNvSpPr txBox="true"/>
            <p:nvPr/>
          </p:nvSpPr>
          <p:spPr>
            <a:xfrm rot="0">
              <a:off x="960657" y="1075448"/>
              <a:ext cx="5250180" cy="1098338"/>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How</a:t>
              </a:r>
              <a:r>
                <a:rPr lang="en-US" sz="1599">
                  <a:solidFill>
                    <a:srgbClr val="C3C5C6"/>
                  </a:solidFill>
                  <a:latin typeface="Poppins Light"/>
                  <a:ea typeface="Poppins Light"/>
                  <a:cs typeface="Poppins Light"/>
                  <a:sym typeface="Poppins Light"/>
                </a:rPr>
                <a:t> do experience level, company size, and job category influence salaries?</a:t>
              </a:r>
            </a:p>
          </p:txBody>
        </p:sp>
      </p:grpSp>
      <p:grpSp>
        <p:nvGrpSpPr>
          <p:cNvPr name="Group 17" id="17"/>
          <p:cNvGrpSpPr/>
          <p:nvPr/>
        </p:nvGrpSpPr>
        <p:grpSpPr>
          <a:xfrm rot="0">
            <a:off x="2571750" y="7241540"/>
            <a:ext cx="4658127" cy="1630340"/>
            <a:chOff x="0" y="0"/>
            <a:chExt cx="6210837" cy="2173787"/>
          </a:xfrm>
        </p:grpSpPr>
        <p:sp>
          <p:nvSpPr>
            <p:cNvPr name="TextBox 18" id="18"/>
            <p:cNvSpPr txBox="true"/>
            <p:nvPr/>
          </p:nvSpPr>
          <p:spPr>
            <a:xfrm rot="0">
              <a:off x="0" y="38100"/>
              <a:ext cx="2625090" cy="815340"/>
            </a:xfrm>
            <a:prstGeom prst="rect">
              <a:avLst/>
            </a:prstGeom>
          </p:spPr>
          <p:txBody>
            <a:bodyPr anchor="t" rtlCol="false" tIns="0" lIns="0" bIns="0" rIns="0">
              <a:spAutoFit/>
            </a:bodyPr>
            <a:lstStyle/>
            <a:p>
              <a:pPr algn="l">
                <a:lnSpc>
                  <a:spcPts val="4200"/>
                </a:lnSpc>
              </a:pPr>
              <a:r>
                <a:rPr lang="en-US" sz="4200">
                  <a:solidFill>
                    <a:srgbClr val="FFFFFF"/>
                  </a:solidFill>
                  <a:latin typeface="Poppins Light"/>
                  <a:ea typeface="Poppins Light"/>
                  <a:cs typeface="Poppins Light"/>
                  <a:sym typeface="Poppins Light"/>
                </a:rPr>
                <a:t>03</a:t>
              </a:r>
            </a:p>
          </p:txBody>
        </p:sp>
        <p:sp>
          <p:nvSpPr>
            <p:cNvPr name="TextBox 19" id="19"/>
            <p:cNvSpPr txBox="true"/>
            <p:nvPr/>
          </p:nvSpPr>
          <p:spPr>
            <a:xfrm rot="0">
              <a:off x="960657" y="136283"/>
              <a:ext cx="5250180" cy="481330"/>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Workforce Distribution</a:t>
              </a:r>
            </a:p>
          </p:txBody>
        </p:sp>
        <p:sp>
          <p:nvSpPr>
            <p:cNvPr name="TextBox 20" id="20"/>
            <p:cNvSpPr txBox="true"/>
            <p:nvPr/>
          </p:nvSpPr>
          <p:spPr>
            <a:xfrm rot="0">
              <a:off x="960657" y="1075448"/>
              <a:ext cx="5250180" cy="1098338"/>
            </a:xfrm>
            <a:prstGeom prst="rect">
              <a:avLst/>
            </a:prstGeom>
          </p:spPr>
          <p:txBody>
            <a:bodyPr anchor="t" rtlCol="false" tIns="0" lIns="0" bIns="0" rIns="0">
              <a:spAutoFit/>
            </a:bodyPr>
            <a:lstStyle/>
            <a:p>
              <a:pPr algn="l">
                <a:lnSpc>
                  <a:spcPts val="2239"/>
                </a:lnSpc>
              </a:pPr>
              <a:r>
                <a:rPr lang="en-US" sz="1599">
                  <a:solidFill>
                    <a:srgbClr val="C3C5C6"/>
                  </a:solidFill>
                  <a:latin typeface="Poppins Light"/>
                  <a:ea typeface="Poppins Light"/>
                  <a:cs typeface="Poppins Light"/>
                  <a:sym typeface="Poppins Light"/>
                </a:rPr>
                <a:t>How</a:t>
              </a:r>
              <a:r>
                <a:rPr lang="en-US" sz="1599">
                  <a:solidFill>
                    <a:srgbClr val="C3C5C6"/>
                  </a:solidFill>
                  <a:latin typeface="Poppins Light"/>
                  <a:ea typeface="Poppins Light"/>
                  <a:cs typeface="Poppins Light"/>
                  <a:sym typeface="Poppins Light"/>
                </a:rPr>
                <a:t> are jobs distributed across Remote, Onsite, and Hybrid work arrangements?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477250" cy="10287000"/>
          </a:xfrm>
          <a:custGeom>
            <a:avLst/>
            <a:gdLst/>
            <a:ahLst/>
            <a:cxnLst/>
            <a:rect r="r" b="b" t="t" l="l"/>
            <a:pathLst>
              <a:path h="10287000" w="8477250">
                <a:moveTo>
                  <a:pt x="0" y="0"/>
                </a:moveTo>
                <a:lnTo>
                  <a:pt x="8477250" y="0"/>
                </a:lnTo>
                <a:lnTo>
                  <a:pt x="8477250" y="10287000"/>
                </a:lnTo>
                <a:lnTo>
                  <a:pt x="0" y="10287000"/>
                </a:lnTo>
                <a:lnTo>
                  <a:pt x="0" y="0"/>
                </a:lnTo>
                <a:close/>
              </a:path>
            </a:pathLst>
          </a:custGeom>
          <a:blipFill>
            <a:blip r:embed="rId2"/>
            <a:stretch>
              <a:fillRect l="0" t="-11805" r="0" b="-11805"/>
            </a:stretch>
          </a:blipFill>
        </p:spPr>
      </p:sp>
      <p:grpSp>
        <p:nvGrpSpPr>
          <p:cNvPr name="Group 3" id="3"/>
          <p:cNvGrpSpPr/>
          <p:nvPr/>
        </p:nvGrpSpPr>
        <p:grpSpPr>
          <a:xfrm rot="0">
            <a:off x="4638853" y="0"/>
            <a:ext cx="3876497" cy="10287000"/>
            <a:chOff x="0" y="0"/>
            <a:chExt cx="1020970" cy="2709333"/>
          </a:xfrm>
        </p:grpSpPr>
        <p:sp>
          <p:nvSpPr>
            <p:cNvPr name="Freeform 4" id="4"/>
            <p:cNvSpPr/>
            <p:nvPr/>
          </p:nvSpPr>
          <p:spPr>
            <a:xfrm flipH="false" flipV="false" rot="0">
              <a:off x="0" y="0"/>
              <a:ext cx="1020970" cy="2709333"/>
            </a:xfrm>
            <a:custGeom>
              <a:avLst/>
              <a:gdLst/>
              <a:ahLst/>
              <a:cxnLst/>
              <a:rect r="r" b="b" t="t" l="l"/>
              <a:pathLst>
                <a:path h="2709333" w="1020970">
                  <a:moveTo>
                    <a:pt x="0" y="0"/>
                  </a:moveTo>
                  <a:lnTo>
                    <a:pt x="1020970" y="0"/>
                  </a:lnTo>
                  <a:lnTo>
                    <a:pt x="1020970" y="2709333"/>
                  </a:lnTo>
                  <a:lnTo>
                    <a:pt x="0" y="2709333"/>
                  </a:lnTo>
                  <a:close/>
                </a:path>
              </a:pathLst>
            </a:custGeom>
            <a:gradFill rotWithShape="true">
              <a:gsLst>
                <a:gs pos="0">
                  <a:srgbClr val="000000">
                    <a:alpha val="0"/>
                  </a:srgbClr>
                </a:gs>
                <a:gs pos="50000">
                  <a:srgbClr val="000000">
                    <a:alpha val="48500"/>
                  </a:srgbClr>
                </a:gs>
                <a:gs pos="100000">
                  <a:srgbClr val="000000">
                    <a:alpha val="100000"/>
                  </a:srgbClr>
                </a:gs>
              </a:gsLst>
              <a:lin ang="0"/>
            </a:gradFill>
          </p:spPr>
        </p:sp>
        <p:sp>
          <p:nvSpPr>
            <p:cNvPr name="TextBox 5" id="5"/>
            <p:cNvSpPr txBox="true"/>
            <p:nvPr/>
          </p:nvSpPr>
          <p:spPr>
            <a:xfrm>
              <a:off x="0" y="9525"/>
              <a:ext cx="1020970" cy="2699808"/>
            </a:xfrm>
            <a:prstGeom prst="rect">
              <a:avLst/>
            </a:prstGeom>
          </p:spPr>
          <p:txBody>
            <a:bodyPr anchor="ctr" rtlCol="false" tIns="50800" lIns="50800" bIns="50800" rIns="50800"/>
            <a:lstStyle/>
            <a:p>
              <a:pPr algn="ctr">
                <a:lnSpc>
                  <a:spcPts val="1800"/>
                </a:lnSpc>
              </a:pPr>
            </a:p>
          </p:txBody>
        </p:sp>
      </p:grpSp>
      <p:sp>
        <p:nvSpPr>
          <p:cNvPr name="Freeform 6" id="6"/>
          <p:cNvSpPr/>
          <p:nvPr/>
        </p:nvSpPr>
        <p:spPr>
          <a:xfrm flipH="false" flipV="false" rot="0">
            <a:off x="8229776" y="-3103089"/>
            <a:ext cx="19353779" cy="8206002"/>
          </a:xfrm>
          <a:custGeom>
            <a:avLst/>
            <a:gdLst/>
            <a:ahLst/>
            <a:cxnLst/>
            <a:rect r="r" b="b" t="t" l="l"/>
            <a:pathLst>
              <a:path h="8206002" w="19353779">
                <a:moveTo>
                  <a:pt x="0" y="0"/>
                </a:moveTo>
                <a:lnTo>
                  <a:pt x="19353779" y="0"/>
                </a:lnTo>
                <a:lnTo>
                  <a:pt x="19353779" y="8206002"/>
                </a:lnTo>
                <a:lnTo>
                  <a:pt x="0" y="8206002"/>
                </a:lnTo>
                <a:lnTo>
                  <a:pt x="0" y="0"/>
                </a:lnTo>
                <a:close/>
              </a:path>
            </a:pathLst>
          </a:custGeom>
          <a:blipFill>
            <a:blip r:embed="rId3">
              <a:alphaModFix amt="60000"/>
            </a:blip>
            <a:stretch>
              <a:fillRect l="0" t="0" r="0" b="0"/>
            </a:stretch>
          </a:blipFill>
        </p:spPr>
      </p:sp>
      <p:sp>
        <p:nvSpPr>
          <p:cNvPr name="Freeform 7" id="7"/>
          <p:cNvSpPr/>
          <p:nvPr/>
        </p:nvSpPr>
        <p:spPr>
          <a:xfrm flipH="false" flipV="false" rot="0">
            <a:off x="4238625" y="8480478"/>
            <a:ext cx="16475301" cy="6985528"/>
          </a:xfrm>
          <a:custGeom>
            <a:avLst/>
            <a:gdLst/>
            <a:ahLst/>
            <a:cxnLst/>
            <a:rect r="r" b="b" t="t" l="l"/>
            <a:pathLst>
              <a:path h="6985528" w="16475301">
                <a:moveTo>
                  <a:pt x="0" y="0"/>
                </a:moveTo>
                <a:lnTo>
                  <a:pt x="16475301" y="0"/>
                </a:lnTo>
                <a:lnTo>
                  <a:pt x="16475301" y="6985527"/>
                </a:lnTo>
                <a:lnTo>
                  <a:pt x="0" y="6985527"/>
                </a:lnTo>
                <a:lnTo>
                  <a:pt x="0" y="0"/>
                </a:lnTo>
                <a:close/>
              </a:path>
            </a:pathLst>
          </a:custGeom>
          <a:blipFill>
            <a:blip r:embed="rId3">
              <a:alphaModFix amt="60000"/>
            </a:blip>
            <a:stretch>
              <a:fillRect l="0" t="0" r="0" b="0"/>
            </a:stretch>
          </a:blipFill>
        </p:spPr>
      </p:sp>
      <p:sp>
        <p:nvSpPr>
          <p:cNvPr name="AutoShape 8" id="8"/>
          <p:cNvSpPr/>
          <p:nvPr/>
        </p:nvSpPr>
        <p:spPr>
          <a:xfrm>
            <a:off x="9810750" y="2866444"/>
            <a:ext cx="567898" cy="0"/>
          </a:xfrm>
          <a:prstGeom prst="line">
            <a:avLst/>
          </a:prstGeom>
          <a:ln cap="flat" w="38100">
            <a:solidFill>
              <a:srgbClr val="D2B99A"/>
            </a:solidFill>
            <a:prstDash val="solid"/>
            <a:headEnd type="none" len="sm" w="sm"/>
            <a:tailEnd type="none" len="sm" w="sm"/>
          </a:ln>
        </p:spPr>
      </p:sp>
      <p:sp>
        <p:nvSpPr>
          <p:cNvPr name="TextBox 9" id="9"/>
          <p:cNvSpPr txBox="true"/>
          <p:nvPr/>
        </p:nvSpPr>
        <p:spPr>
          <a:xfrm rot="0">
            <a:off x="9810750" y="1952625"/>
            <a:ext cx="7986923"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PROJECT OBJECTIVES</a:t>
            </a:r>
          </a:p>
        </p:txBody>
      </p:sp>
      <p:sp>
        <p:nvSpPr>
          <p:cNvPr name="TextBox 10" id="10"/>
          <p:cNvSpPr txBox="true"/>
          <p:nvPr/>
        </p:nvSpPr>
        <p:spPr>
          <a:xfrm rot="0">
            <a:off x="9810750" y="3357177"/>
            <a:ext cx="5905500" cy="281940"/>
          </a:xfrm>
          <a:prstGeom prst="rect">
            <a:avLst/>
          </a:prstGeom>
        </p:spPr>
        <p:txBody>
          <a:bodyPr anchor="t" rtlCol="false" tIns="0" lIns="0" bIns="0" rIns="0">
            <a:spAutoFit/>
          </a:bodyPr>
          <a:lstStyle/>
          <a:p>
            <a:pPr algn="l">
              <a:lnSpc>
                <a:spcPts val="2099"/>
              </a:lnSpc>
            </a:pPr>
            <a:r>
              <a:rPr lang="en-US" sz="2099" spc="419">
                <a:solidFill>
                  <a:srgbClr val="FFFFFF"/>
                </a:solidFill>
                <a:latin typeface="Poppins Light"/>
                <a:ea typeface="Poppins Light"/>
                <a:cs typeface="Poppins Light"/>
                <a:sym typeface="Poppins Light"/>
              </a:rPr>
              <a:t>OBJECTIVES</a:t>
            </a:r>
          </a:p>
        </p:txBody>
      </p:sp>
      <p:sp>
        <p:nvSpPr>
          <p:cNvPr name="TextBox 11" id="11"/>
          <p:cNvSpPr txBox="true"/>
          <p:nvPr/>
        </p:nvSpPr>
        <p:spPr>
          <a:xfrm rot="0">
            <a:off x="9810750" y="4020116"/>
            <a:ext cx="6736715" cy="4244947"/>
          </a:xfrm>
          <a:prstGeom prst="rect">
            <a:avLst/>
          </a:prstGeom>
        </p:spPr>
        <p:txBody>
          <a:bodyPr anchor="t" rtlCol="false" tIns="0" lIns="0" bIns="0" rIns="0">
            <a:spAutoFit/>
          </a:bodyPr>
          <a:lstStyle/>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Analyze</a:t>
            </a:r>
            <a:r>
              <a:rPr lang="en-US" sz="2001">
                <a:solidFill>
                  <a:srgbClr val="C3C5C6"/>
                </a:solidFill>
                <a:latin typeface="Poppins Light"/>
                <a:ea typeface="Poppins Light"/>
                <a:cs typeface="Poppins Light"/>
                <a:sym typeface="Poppins Light"/>
              </a:rPr>
              <a:t> salary trends between 2020 and 2024.</a:t>
            </a:r>
          </a:p>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Examine changes in the number of recorded jobs over time.</a:t>
            </a:r>
          </a:p>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Compare compensation across job categories and experience levels.</a:t>
            </a:r>
          </a:p>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Analyze the relationship between company size and salary.</a:t>
            </a:r>
          </a:p>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Explore work arrangements across different job categories.</a:t>
            </a:r>
          </a:p>
          <a:p>
            <a:pPr algn="l" marL="432040" indent="-216020" lvl="1">
              <a:lnSpc>
                <a:spcPts val="2801"/>
              </a:lnSpc>
              <a:buFont typeface="Arial"/>
              <a:buChar char="•"/>
            </a:pPr>
            <a:r>
              <a:rPr lang="en-US" sz="2001">
                <a:solidFill>
                  <a:srgbClr val="C3C5C6"/>
                </a:solidFill>
                <a:latin typeface="Poppins Light"/>
                <a:ea typeface="Poppins Light"/>
                <a:cs typeface="Poppins Light"/>
                <a:sym typeface="Poppins Light"/>
              </a:rPr>
              <a:t>Present actionable insights through interactive Power BI dashboards.</a:t>
            </a:r>
          </a:p>
          <a:p>
            <a:pPr algn="l">
              <a:lnSpc>
                <a:spcPts val="280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980744"/>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3">
              <a:alphaModFix amt="60000"/>
            </a:blip>
            <a:stretch>
              <a:fillRect l="0" t="0" r="0" b="0"/>
            </a:stretch>
          </a:blipFill>
        </p:spPr>
      </p:sp>
      <p:sp>
        <p:nvSpPr>
          <p:cNvPr name="TextBox 3" id="3"/>
          <p:cNvSpPr txBox="true"/>
          <p:nvPr/>
        </p:nvSpPr>
        <p:spPr>
          <a:xfrm rot="0">
            <a:off x="5630990" y="4700878"/>
            <a:ext cx="7026020"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OVERVIEW</a:t>
            </a:r>
          </a:p>
        </p:txBody>
      </p:sp>
      <p:sp>
        <p:nvSpPr>
          <p:cNvPr name="AutoShape 4" id="4"/>
          <p:cNvSpPr/>
          <p:nvPr/>
        </p:nvSpPr>
        <p:spPr>
          <a:xfrm>
            <a:off x="8860051" y="5614697"/>
            <a:ext cx="567898" cy="0"/>
          </a:xfrm>
          <a:prstGeom prst="line">
            <a:avLst/>
          </a:prstGeom>
          <a:ln cap="flat" w="38100">
            <a:solidFill>
              <a:srgbClr val="D2B99A"/>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969665" y="4305072"/>
            <a:ext cx="3078429" cy="1784834"/>
          </a:xfrm>
          <a:custGeom>
            <a:avLst/>
            <a:gdLst/>
            <a:ahLst/>
            <a:cxnLst/>
            <a:rect r="r" b="b" t="t" l="l"/>
            <a:pathLst>
              <a:path h="1784834" w="3078429">
                <a:moveTo>
                  <a:pt x="0" y="0"/>
                </a:moveTo>
                <a:lnTo>
                  <a:pt x="3078429" y="0"/>
                </a:lnTo>
                <a:lnTo>
                  <a:pt x="3078429" y="1784834"/>
                </a:lnTo>
                <a:lnTo>
                  <a:pt x="0" y="1784834"/>
                </a:lnTo>
                <a:lnTo>
                  <a:pt x="0" y="0"/>
                </a:lnTo>
                <a:close/>
              </a:path>
            </a:pathLst>
          </a:custGeom>
          <a:blipFill>
            <a:blip r:embed="rId3"/>
            <a:stretch>
              <a:fillRect l="0" t="0" r="0" b="0"/>
            </a:stretch>
          </a:blipFill>
        </p:spPr>
      </p:sp>
      <p:sp>
        <p:nvSpPr>
          <p:cNvPr name="Freeform 4" id="4"/>
          <p:cNvSpPr/>
          <p:nvPr/>
        </p:nvSpPr>
        <p:spPr>
          <a:xfrm flipH="false" flipV="false" rot="0">
            <a:off x="4691245" y="4565234"/>
            <a:ext cx="2401290" cy="1264509"/>
          </a:xfrm>
          <a:custGeom>
            <a:avLst/>
            <a:gdLst/>
            <a:ahLst/>
            <a:cxnLst/>
            <a:rect r="r" b="b" t="t" l="l"/>
            <a:pathLst>
              <a:path h="1264509" w="2401290">
                <a:moveTo>
                  <a:pt x="0" y="0"/>
                </a:moveTo>
                <a:lnTo>
                  <a:pt x="2401291" y="0"/>
                </a:lnTo>
                <a:lnTo>
                  <a:pt x="2401291" y="1264510"/>
                </a:lnTo>
                <a:lnTo>
                  <a:pt x="0" y="1264510"/>
                </a:lnTo>
                <a:lnTo>
                  <a:pt x="0" y="0"/>
                </a:lnTo>
                <a:close/>
              </a:path>
            </a:pathLst>
          </a:custGeom>
          <a:blipFill>
            <a:blip r:embed="rId4">
              <a:alphaModFix amt="70000"/>
            </a:blip>
            <a:stretch>
              <a:fillRect l="0" t="0" r="0" b="0"/>
            </a:stretch>
          </a:blipFill>
        </p:spPr>
      </p:sp>
      <p:sp>
        <p:nvSpPr>
          <p:cNvPr name="Freeform 5" id="5"/>
          <p:cNvSpPr/>
          <p:nvPr/>
        </p:nvSpPr>
        <p:spPr>
          <a:xfrm flipH="false" flipV="false" rot="0">
            <a:off x="8184408" y="4565234"/>
            <a:ext cx="2276117" cy="1264509"/>
          </a:xfrm>
          <a:custGeom>
            <a:avLst/>
            <a:gdLst/>
            <a:ahLst/>
            <a:cxnLst/>
            <a:rect r="r" b="b" t="t" l="l"/>
            <a:pathLst>
              <a:path h="1264509" w="2276117">
                <a:moveTo>
                  <a:pt x="0" y="0"/>
                </a:moveTo>
                <a:lnTo>
                  <a:pt x="2276117" y="0"/>
                </a:lnTo>
                <a:lnTo>
                  <a:pt x="2276117" y="1264510"/>
                </a:lnTo>
                <a:lnTo>
                  <a:pt x="0" y="1264510"/>
                </a:lnTo>
                <a:lnTo>
                  <a:pt x="0" y="0"/>
                </a:lnTo>
                <a:close/>
              </a:path>
            </a:pathLst>
          </a:custGeom>
          <a:blipFill>
            <a:blip r:embed="rId5">
              <a:alphaModFix amt="70000"/>
            </a:blip>
            <a:stretch>
              <a:fillRect l="0" t="0" r="0" b="0"/>
            </a:stretch>
          </a:blipFill>
        </p:spPr>
      </p:sp>
      <p:sp>
        <p:nvSpPr>
          <p:cNvPr name="Freeform 6" id="6"/>
          <p:cNvSpPr/>
          <p:nvPr/>
        </p:nvSpPr>
        <p:spPr>
          <a:xfrm flipH="false" flipV="false" rot="0">
            <a:off x="11552397" y="4565234"/>
            <a:ext cx="2295760" cy="1264509"/>
          </a:xfrm>
          <a:custGeom>
            <a:avLst/>
            <a:gdLst/>
            <a:ahLst/>
            <a:cxnLst/>
            <a:rect r="r" b="b" t="t" l="l"/>
            <a:pathLst>
              <a:path h="1264509" w="2295760">
                <a:moveTo>
                  <a:pt x="0" y="0"/>
                </a:moveTo>
                <a:lnTo>
                  <a:pt x="2295759" y="0"/>
                </a:lnTo>
                <a:lnTo>
                  <a:pt x="2295759" y="1264510"/>
                </a:lnTo>
                <a:lnTo>
                  <a:pt x="0" y="1264510"/>
                </a:lnTo>
                <a:lnTo>
                  <a:pt x="0" y="0"/>
                </a:lnTo>
                <a:close/>
              </a:path>
            </a:pathLst>
          </a:custGeom>
          <a:blipFill>
            <a:blip r:embed="rId6">
              <a:alphaModFix amt="70000"/>
            </a:blip>
            <a:stretch>
              <a:fillRect l="0" t="0" r="0" b="0"/>
            </a:stretch>
          </a:blipFill>
        </p:spPr>
      </p:sp>
      <p:sp>
        <p:nvSpPr>
          <p:cNvPr name="Freeform 7" id="7"/>
          <p:cNvSpPr/>
          <p:nvPr/>
        </p:nvSpPr>
        <p:spPr>
          <a:xfrm flipH="false" flipV="false" rot="0">
            <a:off x="14940028" y="4565234"/>
            <a:ext cx="2295760" cy="1311863"/>
          </a:xfrm>
          <a:custGeom>
            <a:avLst/>
            <a:gdLst/>
            <a:ahLst/>
            <a:cxnLst/>
            <a:rect r="r" b="b" t="t" l="l"/>
            <a:pathLst>
              <a:path h="1311863" w="2295760">
                <a:moveTo>
                  <a:pt x="0" y="0"/>
                </a:moveTo>
                <a:lnTo>
                  <a:pt x="2295760" y="0"/>
                </a:lnTo>
                <a:lnTo>
                  <a:pt x="2295760" y="1311863"/>
                </a:lnTo>
                <a:lnTo>
                  <a:pt x="0" y="1311863"/>
                </a:lnTo>
                <a:lnTo>
                  <a:pt x="0" y="0"/>
                </a:lnTo>
                <a:close/>
              </a:path>
            </a:pathLst>
          </a:custGeom>
          <a:blipFill>
            <a:blip r:embed="rId7">
              <a:alphaModFix amt="70000"/>
            </a:blip>
            <a:stretch>
              <a:fillRect l="0" t="0" r="0" b="0"/>
            </a:stretch>
          </a:blipFill>
        </p:spPr>
      </p:sp>
      <p:sp>
        <p:nvSpPr>
          <p:cNvPr name="TextBox 8" id="8"/>
          <p:cNvSpPr txBox="true"/>
          <p:nvPr/>
        </p:nvSpPr>
        <p:spPr>
          <a:xfrm rot="0">
            <a:off x="1889750" y="1238511"/>
            <a:ext cx="5545841"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OVERVIEW</a:t>
            </a:r>
          </a:p>
        </p:txBody>
      </p:sp>
      <p:sp>
        <p:nvSpPr>
          <p:cNvPr name="AutoShape 9" id="9"/>
          <p:cNvSpPr/>
          <p:nvPr/>
        </p:nvSpPr>
        <p:spPr>
          <a:xfrm>
            <a:off x="1940981" y="2152331"/>
            <a:ext cx="567898" cy="0"/>
          </a:xfrm>
          <a:prstGeom prst="line">
            <a:avLst/>
          </a:prstGeom>
          <a:ln cap="flat" w="38100">
            <a:solidFill>
              <a:srgbClr val="D2B99A"/>
            </a:solidFill>
            <a:prstDash val="solid"/>
            <a:headEnd type="none" len="sm" w="sm"/>
            <a:tailEnd type="none" len="sm" w="sm"/>
          </a:ln>
        </p:spPr>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1418385" y="4565234"/>
            <a:ext cx="2180989" cy="1264509"/>
          </a:xfrm>
          <a:custGeom>
            <a:avLst/>
            <a:gdLst/>
            <a:ahLst/>
            <a:cxnLst/>
            <a:rect r="r" b="b" t="t" l="l"/>
            <a:pathLst>
              <a:path h="1264509" w="2180989">
                <a:moveTo>
                  <a:pt x="0" y="0"/>
                </a:moveTo>
                <a:lnTo>
                  <a:pt x="2180988" y="0"/>
                </a:lnTo>
                <a:lnTo>
                  <a:pt x="2180988" y="1264510"/>
                </a:lnTo>
                <a:lnTo>
                  <a:pt x="0" y="1264510"/>
                </a:lnTo>
                <a:lnTo>
                  <a:pt x="0" y="0"/>
                </a:lnTo>
                <a:close/>
              </a:path>
            </a:pathLst>
          </a:custGeom>
          <a:blipFill>
            <a:blip r:embed="rId3">
              <a:alphaModFix amt="70000"/>
            </a:blip>
            <a:stretch>
              <a:fillRect l="0" t="0" r="0" b="0"/>
            </a:stretch>
          </a:blipFill>
        </p:spPr>
      </p:sp>
      <p:sp>
        <p:nvSpPr>
          <p:cNvPr name="Freeform 4" id="4"/>
          <p:cNvSpPr/>
          <p:nvPr/>
        </p:nvSpPr>
        <p:spPr>
          <a:xfrm flipH="false" flipV="false" rot="0">
            <a:off x="4153509" y="4282065"/>
            <a:ext cx="3476763" cy="1830849"/>
          </a:xfrm>
          <a:custGeom>
            <a:avLst/>
            <a:gdLst/>
            <a:ahLst/>
            <a:cxnLst/>
            <a:rect r="r" b="b" t="t" l="l"/>
            <a:pathLst>
              <a:path h="1830849" w="3476763">
                <a:moveTo>
                  <a:pt x="0" y="0"/>
                </a:moveTo>
                <a:lnTo>
                  <a:pt x="3476763" y="0"/>
                </a:lnTo>
                <a:lnTo>
                  <a:pt x="3476763" y="1830848"/>
                </a:lnTo>
                <a:lnTo>
                  <a:pt x="0" y="1830848"/>
                </a:lnTo>
                <a:lnTo>
                  <a:pt x="0" y="0"/>
                </a:lnTo>
                <a:close/>
              </a:path>
            </a:pathLst>
          </a:custGeom>
          <a:blipFill>
            <a:blip r:embed="rId4"/>
            <a:stretch>
              <a:fillRect l="0" t="0" r="0" b="0"/>
            </a:stretch>
          </a:blipFill>
        </p:spPr>
      </p:sp>
      <p:sp>
        <p:nvSpPr>
          <p:cNvPr name="Freeform 5" id="5"/>
          <p:cNvSpPr/>
          <p:nvPr/>
        </p:nvSpPr>
        <p:spPr>
          <a:xfrm flipH="false" flipV="false" rot="0">
            <a:off x="8184408" y="4565234"/>
            <a:ext cx="2276117" cy="1264509"/>
          </a:xfrm>
          <a:custGeom>
            <a:avLst/>
            <a:gdLst/>
            <a:ahLst/>
            <a:cxnLst/>
            <a:rect r="r" b="b" t="t" l="l"/>
            <a:pathLst>
              <a:path h="1264509" w="2276117">
                <a:moveTo>
                  <a:pt x="0" y="0"/>
                </a:moveTo>
                <a:lnTo>
                  <a:pt x="2276117" y="0"/>
                </a:lnTo>
                <a:lnTo>
                  <a:pt x="2276117" y="1264510"/>
                </a:lnTo>
                <a:lnTo>
                  <a:pt x="0" y="1264510"/>
                </a:lnTo>
                <a:lnTo>
                  <a:pt x="0" y="0"/>
                </a:lnTo>
                <a:close/>
              </a:path>
            </a:pathLst>
          </a:custGeom>
          <a:blipFill>
            <a:blip r:embed="rId5">
              <a:alphaModFix amt="70000"/>
            </a:blip>
            <a:stretch>
              <a:fillRect l="0" t="0" r="0" b="0"/>
            </a:stretch>
          </a:blipFill>
        </p:spPr>
      </p:sp>
      <p:sp>
        <p:nvSpPr>
          <p:cNvPr name="Freeform 6" id="6"/>
          <p:cNvSpPr/>
          <p:nvPr/>
        </p:nvSpPr>
        <p:spPr>
          <a:xfrm flipH="false" flipV="false" rot="0">
            <a:off x="11552397" y="4565234"/>
            <a:ext cx="2295760" cy="1264509"/>
          </a:xfrm>
          <a:custGeom>
            <a:avLst/>
            <a:gdLst/>
            <a:ahLst/>
            <a:cxnLst/>
            <a:rect r="r" b="b" t="t" l="l"/>
            <a:pathLst>
              <a:path h="1264509" w="2295760">
                <a:moveTo>
                  <a:pt x="0" y="0"/>
                </a:moveTo>
                <a:lnTo>
                  <a:pt x="2295759" y="0"/>
                </a:lnTo>
                <a:lnTo>
                  <a:pt x="2295759" y="1264510"/>
                </a:lnTo>
                <a:lnTo>
                  <a:pt x="0" y="1264510"/>
                </a:lnTo>
                <a:lnTo>
                  <a:pt x="0" y="0"/>
                </a:lnTo>
                <a:close/>
              </a:path>
            </a:pathLst>
          </a:custGeom>
          <a:blipFill>
            <a:blip r:embed="rId6">
              <a:alphaModFix amt="70000"/>
            </a:blip>
            <a:stretch>
              <a:fillRect l="0" t="0" r="0" b="0"/>
            </a:stretch>
          </a:blipFill>
        </p:spPr>
      </p:sp>
      <p:sp>
        <p:nvSpPr>
          <p:cNvPr name="Freeform 7" id="7"/>
          <p:cNvSpPr/>
          <p:nvPr/>
        </p:nvSpPr>
        <p:spPr>
          <a:xfrm flipH="false" flipV="false" rot="0">
            <a:off x="14940028" y="4565234"/>
            <a:ext cx="2295760" cy="1311863"/>
          </a:xfrm>
          <a:custGeom>
            <a:avLst/>
            <a:gdLst/>
            <a:ahLst/>
            <a:cxnLst/>
            <a:rect r="r" b="b" t="t" l="l"/>
            <a:pathLst>
              <a:path h="1311863" w="2295760">
                <a:moveTo>
                  <a:pt x="0" y="0"/>
                </a:moveTo>
                <a:lnTo>
                  <a:pt x="2295760" y="0"/>
                </a:lnTo>
                <a:lnTo>
                  <a:pt x="2295760" y="1311863"/>
                </a:lnTo>
                <a:lnTo>
                  <a:pt x="0" y="1311863"/>
                </a:lnTo>
                <a:lnTo>
                  <a:pt x="0" y="0"/>
                </a:lnTo>
                <a:close/>
              </a:path>
            </a:pathLst>
          </a:custGeom>
          <a:blipFill>
            <a:blip r:embed="rId7">
              <a:alphaModFix amt="70000"/>
            </a:blip>
            <a:stretch>
              <a:fillRect l="0" t="0" r="0" b="0"/>
            </a:stretch>
          </a:blipFill>
        </p:spPr>
      </p:sp>
      <p:sp>
        <p:nvSpPr>
          <p:cNvPr name="TextBox 8" id="8"/>
          <p:cNvSpPr txBox="true"/>
          <p:nvPr/>
        </p:nvSpPr>
        <p:spPr>
          <a:xfrm rot="0">
            <a:off x="1889750" y="1238511"/>
            <a:ext cx="5545841"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OVERVIEW</a:t>
            </a:r>
          </a:p>
        </p:txBody>
      </p:sp>
      <p:sp>
        <p:nvSpPr>
          <p:cNvPr name="AutoShape 9" id="9"/>
          <p:cNvSpPr/>
          <p:nvPr/>
        </p:nvSpPr>
        <p:spPr>
          <a:xfrm>
            <a:off x="1940981" y="2152331"/>
            <a:ext cx="567898" cy="0"/>
          </a:xfrm>
          <a:prstGeom prst="line">
            <a:avLst/>
          </a:prstGeom>
          <a:ln cap="flat" w="38100">
            <a:solidFill>
              <a:srgbClr val="D2B99A"/>
            </a:solidFill>
            <a:prstDash val="solid"/>
            <a:headEnd type="none" len="sm" w="sm"/>
            <a:tailEnd type="none" len="sm" w="sm"/>
          </a:ln>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977686" y="-2060246"/>
            <a:ext cx="20814942" cy="8825535"/>
          </a:xfrm>
          <a:custGeom>
            <a:avLst/>
            <a:gdLst/>
            <a:ahLst/>
            <a:cxnLst/>
            <a:rect r="r" b="b" t="t" l="l"/>
            <a:pathLst>
              <a:path h="8825535" w="20814942">
                <a:moveTo>
                  <a:pt x="0" y="0"/>
                </a:moveTo>
                <a:lnTo>
                  <a:pt x="20814942" y="0"/>
                </a:lnTo>
                <a:lnTo>
                  <a:pt x="20814942" y="8825536"/>
                </a:lnTo>
                <a:lnTo>
                  <a:pt x="0" y="8825536"/>
                </a:lnTo>
                <a:lnTo>
                  <a:pt x="0" y="0"/>
                </a:lnTo>
                <a:close/>
              </a:path>
            </a:pathLst>
          </a:custGeom>
          <a:blipFill>
            <a:blip r:embed="rId2">
              <a:alphaModFix amt="60000"/>
            </a:blip>
            <a:stretch>
              <a:fillRect l="0" t="0" r="0" b="0"/>
            </a:stretch>
          </a:blipFill>
        </p:spPr>
      </p:sp>
      <p:sp>
        <p:nvSpPr>
          <p:cNvPr name="Freeform 3" id="3"/>
          <p:cNvSpPr/>
          <p:nvPr/>
        </p:nvSpPr>
        <p:spPr>
          <a:xfrm flipH="false" flipV="false" rot="0">
            <a:off x="1418385" y="4565234"/>
            <a:ext cx="2180989" cy="1264509"/>
          </a:xfrm>
          <a:custGeom>
            <a:avLst/>
            <a:gdLst/>
            <a:ahLst/>
            <a:cxnLst/>
            <a:rect r="r" b="b" t="t" l="l"/>
            <a:pathLst>
              <a:path h="1264509" w="2180989">
                <a:moveTo>
                  <a:pt x="0" y="0"/>
                </a:moveTo>
                <a:lnTo>
                  <a:pt x="2180988" y="0"/>
                </a:lnTo>
                <a:lnTo>
                  <a:pt x="2180988" y="1264510"/>
                </a:lnTo>
                <a:lnTo>
                  <a:pt x="0" y="1264510"/>
                </a:lnTo>
                <a:lnTo>
                  <a:pt x="0" y="0"/>
                </a:lnTo>
                <a:close/>
              </a:path>
            </a:pathLst>
          </a:custGeom>
          <a:blipFill>
            <a:blip r:embed="rId3">
              <a:alphaModFix amt="70000"/>
            </a:blip>
            <a:stretch>
              <a:fillRect l="0" t="0" r="0" b="0"/>
            </a:stretch>
          </a:blipFill>
        </p:spPr>
      </p:sp>
      <p:sp>
        <p:nvSpPr>
          <p:cNvPr name="Freeform 4" id="4"/>
          <p:cNvSpPr/>
          <p:nvPr/>
        </p:nvSpPr>
        <p:spPr>
          <a:xfrm flipH="false" flipV="false" rot="0">
            <a:off x="4405495" y="4565234"/>
            <a:ext cx="2401290" cy="1264509"/>
          </a:xfrm>
          <a:custGeom>
            <a:avLst/>
            <a:gdLst/>
            <a:ahLst/>
            <a:cxnLst/>
            <a:rect r="r" b="b" t="t" l="l"/>
            <a:pathLst>
              <a:path h="1264509" w="2401290">
                <a:moveTo>
                  <a:pt x="0" y="0"/>
                </a:moveTo>
                <a:lnTo>
                  <a:pt x="2401291" y="0"/>
                </a:lnTo>
                <a:lnTo>
                  <a:pt x="2401291" y="1264510"/>
                </a:lnTo>
                <a:lnTo>
                  <a:pt x="0" y="1264510"/>
                </a:lnTo>
                <a:lnTo>
                  <a:pt x="0" y="0"/>
                </a:lnTo>
                <a:close/>
              </a:path>
            </a:pathLst>
          </a:custGeom>
          <a:blipFill>
            <a:blip r:embed="rId4">
              <a:alphaModFix amt="70000"/>
            </a:blip>
            <a:stretch>
              <a:fillRect l="0" t="0" r="0" b="0"/>
            </a:stretch>
          </a:blipFill>
        </p:spPr>
      </p:sp>
      <p:sp>
        <p:nvSpPr>
          <p:cNvPr name="Freeform 5" id="5"/>
          <p:cNvSpPr/>
          <p:nvPr/>
        </p:nvSpPr>
        <p:spPr>
          <a:xfrm flipH="false" flipV="false" rot="0">
            <a:off x="7510868" y="4191045"/>
            <a:ext cx="3313928" cy="1841071"/>
          </a:xfrm>
          <a:custGeom>
            <a:avLst/>
            <a:gdLst/>
            <a:ahLst/>
            <a:cxnLst/>
            <a:rect r="r" b="b" t="t" l="l"/>
            <a:pathLst>
              <a:path h="1841071" w="3313928">
                <a:moveTo>
                  <a:pt x="0" y="0"/>
                </a:moveTo>
                <a:lnTo>
                  <a:pt x="3313928" y="0"/>
                </a:lnTo>
                <a:lnTo>
                  <a:pt x="3313928" y="1841072"/>
                </a:lnTo>
                <a:lnTo>
                  <a:pt x="0" y="1841072"/>
                </a:lnTo>
                <a:lnTo>
                  <a:pt x="0" y="0"/>
                </a:lnTo>
                <a:close/>
              </a:path>
            </a:pathLst>
          </a:custGeom>
          <a:blipFill>
            <a:blip r:embed="rId5"/>
            <a:stretch>
              <a:fillRect l="0" t="0" r="0" b="0"/>
            </a:stretch>
          </a:blipFill>
        </p:spPr>
      </p:sp>
      <p:sp>
        <p:nvSpPr>
          <p:cNvPr name="Freeform 6" id="6"/>
          <p:cNvSpPr/>
          <p:nvPr/>
        </p:nvSpPr>
        <p:spPr>
          <a:xfrm flipH="false" flipV="false" rot="0">
            <a:off x="11104599" y="4191045"/>
            <a:ext cx="3342528" cy="1841071"/>
          </a:xfrm>
          <a:custGeom>
            <a:avLst/>
            <a:gdLst/>
            <a:ahLst/>
            <a:cxnLst/>
            <a:rect r="r" b="b" t="t" l="l"/>
            <a:pathLst>
              <a:path h="1841071" w="3342528">
                <a:moveTo>
                  <a:pt x="0" y="0"/>
                </a:moveTo>
                <a:lnTo>
                  <a:pt x="3342527" y="0"/>
                </a:lnTo>
                <a:lnTo>
                  <a:pt x="3342527" y="1841072"/>
                </a:lnTo>
                <a:lnTo>
                  <a:pt x="0" y="1841072"/>
                </a:lnTo>
                <a:lnTo>
                  <a:pt x="0" y="0"/>
                </a:lnTo>
                <a:close/>
              </a:path>
            </a:pathLst>
          </a:custGeom>
          <a:blipFill>
            <a:blip r:embed="rId6"/>
            <a:stretch>
              <a:fillRect l="0" t="0" r="0" b="0"/>
            </a:stretch>
          </a:blipFill>
        </p:spPr>
      </p:sp>
      <p:sp>
        <p:nvSpPr>
          <p:cNvPr name="Freeform 7" id="7"/>
          <p:cNvSpPr/>
          <p:nvPr/>
        </p:nvSpPr>
        <p:spPr>
          <a:xfrm flipH="false" flipV="false" rot="0">
            <a:off x="14726929" y="4191045"/>
            <a:ext cx="3221875" cy="1841071"/>
          </a:xfrm>
          <a:custGeom>
            <a:avLst/>
            <a:gdLst/>
            <a:ahLst/>
            <a:cxnLst/>
            <a:rect r="r" b="b" t="t" l="l"/>
            <a:pathLst>
              <a:path h="1841071" w="3221875">
                <a:moveTo>
                  <a:pt x="0" y="0"/>
                </a:moveTo>
                <a:lnTo>
                  <a:pt x="3221874" y="0"/>
                </a:lnTo>
                <a:lnTo>
                  <a:pt x="3221874" y="1841072"/>
                </a:lnTo>
                <a:lnTo>
                  <a:pt x="0" y="1841072"/>
                </a:lnTo>
                <a:lnTo>
                  <a:pt x="0" y="0"/>
                </a:lnTo>
                <a:close/>
              </a:path>
            </a:pathLst>
          </a:custGeom>
          <a:blipFill>
            <a:blip r:embed="rId7"/>
            <a:stretch>
              <a:fillRect l="0" t="0" r="0" b="0"/>
            </a:stretch>
          </a:blipFill>
        </p:spPr>
      </p:sp>
      <p:sp>
        <p:nvSpPr>
          <p:cNvPr name="TextBox 8" id="8"/>
          <p:cNvSpPr txBox="true"/>
          <p:nvPr/>
        </p:nvSpPr>
        <p:spPr>
          <a:xfrm rot="0">
            <a:off x="1889750" y="1238511"/>
            <a:ext cx="5545841"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OVERVIEW</a:t>
            </a:r>
          </a:p>
        </p:txBody>
      </p:sp>
      <p:sp>
        <p:nvSpPr>
          <p:cNvPr name="AutoShape 9" id="9"/>
          <p:cNvSpPr/>
          <p:nvPr/>
        </p:nvSpPr>
        <p:spPr>
          <a:xfrm>
            <a:off x="1940981" y="2152331"/>
            <a:ext cx="567898" cy="0"/>
          </a:xfrm>
          <a:prstGeom prst="line">
            <a:avLst/>
          </a:prstGeom>
          <a:ln cap="flat" w="38100">
            <a:solidFill>
              <a:srgbClr val="D2B99A"/>
            </a:solidFill>
            <a:prstDash val="solid"/>
            <a:headEnd type="none" len="sm" w="sm"/>
            <a:tailEnd type="none" len="sm" w="sm"/>
          </a:ln>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1004897" y="-1736871"/>
            <a:ext cx="18601707" cy="7887124"/>
          </a:xfrm>
          <a:custGeom>
            <a:avLst/>
            <a:gdLst/>
            <a:ahLst/>
            <a:cxnLst/>
            <a:rect r="r" b="b" t="t" l="l"/>
            <a:pathLst>
              <a:path h="7887124" w="18601707">
                <a:moveTo>
                  <a:pt x="18601707" y="0"/>
                </a:moveTo>
                <a:lnTo>
                  <a:pt x="0" y="0"/>
                </a:lnTo>
                <a:lnTo>
                  <a:pt x="0" y="7887123"/>
                </a:lnTo>
                <a:lnTo>
                  <a:pt x="18601707" y="7887123"/>
                </a:lnTo>
                <a:lnTo>
                  <a:pt x="18601707" y="0"/>
                </a:lnTo>
                <a:close/>
              </a:path>
            </a:pathLst>
          </a:custGeom>
          <a:blipFill>
            <a:blip r:embed="rId3">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571750" y="7435532"/>
            <a:ext cx="18601707" cy="7887124"/>
          </a:xfrm>
          <a:custGeom>
            <a:avLst/>
            <a:gdLst/>
            <a:ahLst/>
            <a:cxnLst/>
            <a:rect r="r" b="b" t="t" l="l"/>
            <a:pathLst>
              <a:path h="7887124" w="18601707">
                <a:moveTo>
                  <a:pt x="0" y="0"/>
                </a:moveTo>
                <a:lnTo>
                  <a:pt x="18601707" y="0"/>
                </a:lnTo>
                <a:lnTo>
                  <a:pt x="18601707" y="7887124"/>
                </a:lnTo>
                <a:lnTo>
                  <a:pt x="0" y="7887124"/>
                </a:lnTo>
                <a:lnTo>
                  <a:pt x="0" y="0"/>
                </a:lnTo>
                <a:close/>
              </a:path>
            </a:pathLst>
          </a:custGeom>
          <a:blipFill>
            <a:blip r:embed="rId3">
              <a:alphaModFix amt="60000"/>
            </a:blip>
            <a:stretch>
              <a:fillRect l="0" t="0" r="0" b="0"/>
            </a:stretch>
          </a:blipFill>
        </p:spPr>
      </p:sp>
      <p:sp>
        <p:nvSpPr>
          <p:cNvPr name="Freeform 5" id="5"/>
          <p:cNvSpPr/>
          <p:nvPr/>
        </p:nvSpPr>
        <p:spPr>
          <a:xfrm flipH="false" flipV="false" rot="0">
            <a:off x="2571750" y="3516621"/>
            <a:ext cx="8338606" cy="2633631"/>
          </a:xfrm>
          <a:custGeom>
            <a:avLst/>
            <a:gdLst/>
            <a:ahLst/>
            <a:cxnLst/>
            <a:rect r="r" b="b" t="t" l="l"/>
            <a:pathLst>
              <a:path h="2633631" w="8338606">
                <a:moveTo>
                  <a:pt x="0" y="0"/>
                </a:moveTo>
                <a:lnTo>
                  <a:pt x="8338606" y="0"/>
                </a:lnTo>
                <a:lnTo>
                  <a:pt x="8338606" y="2633631"/>
                </a:lnTo>
                <a:lnTo>
                  <a:pt x="0" y="2633631"/>
                </a:lnTo>
                <a:lnTo>
                  <a:pt x="0" y="0"/>
                </a:lnTo>
                <a:close/>
              </a:path>
            </a:pathLst>
          </a:custGeom>
          <a:blipFill>
            <a:blip r:embed="rId4"/>
            <a:stretch>
              <a:fillRect l="0" t="-2270" r="-1075" b="-6055"/>
            </a:stretch>
          </a:blipFill>
        </p:spPr>
      </p:sp>
      <p:sp>
        <p:nvSpPr>
          <p:cNvPr name="Freeform 6" id="6"/>
          <p:cNvSpPr/>
          <p:nvPr/>
        </p:nvSpPr>
        <p:spPr>
          <a:xfrm flipH="false" flipV="false" rot="0">
            <a:off x="10357071" y="6398591"/>
            <a:ext cx="6479912" cy="3101494"/>
          </a:xfrm>
          <a:custGeom>
            <a:avLst/>
            <a:gdLst/>
            <a:ahLst/>
            <a:cxnLst/>
            <a:rect r="r" b="b" t="t" l="l"/>
            <a:pathLst>
              <a:path h="3101494" w="6479912">
                <a:moveTo>
                  <a:pt x="0" y="0"/>
                </a:moveTo>
                <a:lnTo>
                  <a:pt x="6479912" y="0"/>
                </a:lnTo>
                <a:lnTo>
                  <a:pt x="6479912" y="3101494"/>
                </a:lnTo>
                <a:lnTo>
                  <a:pt x="0" y="3101494"/>
                </a:lnTo>
                <a:lnTo>
                  <a:pt x="0" y="0"/>
                </a:lnTo>
                <a:close/>
              </a:path>
            </a:pathLst>
          </a:custGeom>
          <a:blipFill>
            <a:blip r:embed="rId5"/>
            <a:stretch>
              <a:fillRect l="-744" t="-1555" r="-930" b="-3887"/>
            </a:stretch>
          </a:blipFill>
        </p:spPr>
      </p:sp>
      <p:sp>
        <p:nvSpPr>
          <p:cNvPr name="TextBox 7" id="7"/>
          <p:cNvSpPr txBox="true"/>
          <p:nvPr/>
        </p:nvSpPr>
        <p:spPr>
          <a:xfrm rot="0">
            <a:off x="2571750" y="1952625"/>
            <a:ext cx="6866157"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JOBS MARKET</a:t>
            </a:r>
          </a:p>
        </p:txBody>
      </p:sp>
      <p:sp>
        <p:nvSpPr>
          <p:cNvPr name="TextBox 8" id="8"/>
          <p:cNvSpPr txBox="true"/>
          <p:nvPr/>
        </p:nvSpPr>
        <p:spPr>
          <a:xfrm rot="0">
            <a:off x="4396579" y="6417641"/>
            <a:ext cx="4688947" cy="313055"/>
          </a:xfrm>
          <a:prstGeom prst="rect">
            <a:avLst/>
          </a:prstGeom>
        </p:spPr>
        <p:txBody>
          <a:bodyPr anchor="t" rtlCol="false" tIns="0" lIns="0" bIns="0" rIns="0">
            <a:spAutoFit/>
          </a:bodyPr>
          <a:lstStyle/>
          <a:p>
            <a:pPr algn="ctr">
              <a:lnSpc>
                <a:spcPts val="2200"/>
              </a:lnSpc>
            </a:pPr>
            <a:r>
              <a:rPr lang="en-US" sz="2200">
                <a:solidFill>
                  <a:srgbClr val="FFFFFF"/>
                </a:solidFill>
                <a:latin typeface="Poppins Light"/>
                <a:ea typeface="Poppins Light"/>
                <a:cs typeface="Poppins Light"/>
                <a:sym typeface="Poppins Light"/>
              </a:rPr>
              <a:t>SALARY OVER YEARS</a:t>
            </a:r>
          </a:p>
        </p:txBody>
      </p:sp>
      <p:sp>
        <p:nvSpPr>
          <p:cNvPr name="TextBox 9" id="9"/>
          <p:cNvSpPr txBox="true"/>
          <p:nvPr/>
        </p:nvSpPr>
        <p:spPr>
          <a:xfrm rot="0">
            <a:off x="11252554" y="5837197"/>
            <a:ext cx="4688947" cy="313055"/>
          </a:xfrm>
          <a:prstGeom prst="rect">
            <a:avLst/>
          </a:prstGeom>
        </p:spPr>
        <p:txBody>
          <a:bodyPr anchor="t" rtlCol="false" tIns="0" lIns="0" bIns="0" rIns="0">
            <a:spAutoFit/>
          </a:bodyPr>
          <a:lstStyle/>
          <a:p>
            <a:pPr algn="ctr">
              <a:lnSpc>
                <a:spcPts val="2200"/>
              </a:lnSpc>
            </a:pPr>
            <a:r>
              <a:rPr lang="en-US" sz="2200">
                <a:solidFill>
                  <a:srgbClr val="FFFFFF"/>
                </a:solidFill>
                <a:latin typeface="Poppins Light"/>
                <a:ea typeface="Poppins Light"/>
                <a:cs typeface="Poppins Light"/>
                <a:sym typeface="Poppins Light"/>
              </a:rPr>
              <a:t>JOBS COUNT OVER YEARS</a:t>
            </a:r>
          </a:p>
        </p:txBody>
      </p:sp>
      <p:sp>
        <p:nvSpPr>
          <p:cNvPr name="AutoShape 10" id="10"/>
          <p:cNvSpPr/>
          <p:nvPr/>
        </p:nvSpPr>
        <p:spPr>
          <a:xfrm>
            <a:off x="5885295" y="6792892"/>
            <a:ext cx="1711515" cy="0"/>
          </a:xfrm>
          <a:prstGeom prst="line">
            <a:avLst/>
          </a:prstGeom>
          <a:ln cap="flat" w="38100">
            <a:solidFill>
              <a:srgbClr val="D2B99A"/>
            </a:solidFill>
            <a:prstDash val="solid"/>
            <a:headEnd type="none" len="sm" w="sm"/>
            <a:tailEnd type="none" len="sm" w="sm"/>
          </a:ln>
        </p:spPr>
      </p:sp>
      <p:sp>
        <p:nvSpPr>
          <p:cNvPr name="AutoShape 11" id="11"/>
          <p:cNvSpPr/>
          <p:nvPr/>
        </p:nvSpPr>
        <p:spPr>
          <a:xfrm>
            <a:off x="12741270" y="6197877"/>
            <a:ext cx="1711515" cy="0"/>
          </a:xfrm>
          <a:prstGeom prst="line">
            <a:avLst/>
          </a:prstGeom>
          <a:ln cap="flat" w="38100">
            <a:solidFill>
              <a:srgbClr val="D2B99A"/>
            </a:solidFill>
            <a:prstDash val="solid"/>
            <a:headEnd type="none" len="sm" w="sm"/>
            <a:tailEnd type="none" len="sm" w="sm"/>
          </a:ln>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964302" y="-3180331"/>
            <a:ext cx="22216605" cy="9419840"/>
          </a:xfrm>
          <a:custGeom>
            <a:avLst/>
            <a:gdLst/>
            <a:ahLst/>
            <a:cxnLst/>
            <a:rect r="r" b="b" t="t" l="l"/>
            <a:pathLst>
              <a:path h="9419840" w="22216605">
                <a:moveTo>
                  <a:pt x="22216604" y="0"/>
                </a:moveTo>
                <a:lnTo>
                  <a:pt x="0" y="0"/>
                </a:lnTo>
                <a:lnTo>
                  <a:pt x="0" y="9419841"/>
                </a:lnTo>
                <a:lnTo>
                  <a:pt x="22216604" y="9419841"/>
                </a:lnTo>
                <a:lnTo>
                  <a:pt x="22216604" y="0"/>
                </a:lnTo>
                <a:close/>
              </a:path>
            </a:pathLst>
          </a:custGeom>
          <a:blipFill>
            <a:blip r:embed="rId3">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1591116" y="3407005"/>
            <a:ext cx="8167006" cy="4871740"/>
          </a:xfrm>
          <a:custGeom>
            <a:avLst/>
            <a:gdLst/>
            <a:ahLst/>
            <a:cxnLst/>
            <a:rect r="r" b="b" t="t" l="l"/>
            <a:pathLst>
              <a:path h="4871740" w="8167006">
                <a:moveTo>
                  <a:pt x="0" y="0"/>
                </a:moveTo>
                <a:lnTo>
                  <a:pt x="8167006" y="0"/>
                </a:lnTo>
                <a:lnTo>
                  <a:pt x="8167006" y="4871740"/>
                </a:lnTo>
                <a:lnTo>
                  <a:pt x="0" y="4871740"/>
                </a:lnTo>
                <a:lnTo>
                  <a:pt x="0" y="0"/>
                </a:lnTo>
                <a:close/>
              </a:path>
            </a:pathLst>
          </a:custGeom>
          <a:blipFill>
            <a:blip r:embed="rId4"/>
            <a:stretch>
              <a:fillRect l="0" t="0" r="0" b="0"/>
            </a:stretch>
          </a:blipFill>
        </p:spPr>
      </p:sp>
      <p:sp>
        <p:nvSpPr>
          <p:cNvPr name="AutoShape 5" id="5"/>
          <p:cNvSpPr/>
          <p:nvPr/>
        </p:nvSpPr>
        <p:spPr>
          <a:xfrm>
            <a:off x="4976026" y="8842349"/>
            <a:ext cx="1397185" cy="0"/>
          </a:xfrm>
          <a:prstGeom prst="line">
            <a:avLst/>
          </a:prstGeom>
          <a:ln cap="flat" w="28575">
            <a:solidFill>
              <a:srgbClr val="D2B99A"/>
            </a:solidFill>
            <a:prstDash val="solid"/>
            <a:headEnd type="none" len="sm" w="sm"/>
            <a:tailEnd type="none" len="sm" w="sm"/>
          </a:ln>
        </p:spPr>
      </p:sp>
      <p:sp>
        <p:nvSpPr>
          <p:cNvPr name="AutoShape 6" id="6"/>
          <p:cNvSpPr/>
          <p:nvPr/>
        </p:nvSpPr>
        <p:spPr>
          <a:xfrm>
            <a:off x="13505904" y="8842349"/>
            <a:ext cx="1397185" cy="0"/>
          </a:xfrm>
          <a:prstGeom prst="line">
            <a:avLst/>
          </a:prstGeom>
          <a:ln cap="flat" w="28575">
            <a:solidFill>
              <a:srgbClr val="D2B99A"/>
            </a:solidFill>
            <a:prstDash val="solid"/>
            <a:headEnd type="none" len="sm" w="sm"/>
            <a:tailEnd type="none" len="sm" w="sm"/>
          </a:ln>
        </p:spPr>
      </p:sp>
      <p:sp>
        <p:nvSpPr>
          <p:cNvPr name="Freeform 7" id="7"/>
          <p:cNvSpPr/>
          <p:nvPr/>
        </p:nvSpPr>
        <p:spPr>
          <a:xfrm flipH="false" flipV="false" rot="0">
            <a:off x="10128471" y="3507372"/>
            <a:ext cx="7987891" cy="4671005"/>
          </a:xfrm>
          <a:custGeom>
            <a:avLst/>
            <a:gdLst/>
            <a:ahLst/>
            <a:cxnLst/>
            <a:rect r="r" b="b" t="t" l="l"/>
            <a:pathLst>
              <a:path h="4671005" w="7987891">
                <a:moveTo>
                  <a:pt x="0" y="0"/>
                </a:moveTo>
                <a:lnTo>
                  <a:pt x="7987891" y="0"/>
                </a:lnTo>
                <a:lnTo>
                  <a:pt x="7987891" y="4671006"/>
                </a:lnTo>
                <a:lnTo>
                  <a:pt x="0" y="4671006"/>
                </a:lnTo>
                <a:lnTo>
                  <a:pt x="0" y="0"/>
                </a:lnTo>
                <a:close/>
              </a:path>
            </a:pathLst>
          </a:custGeom>
          <a:blipFill>
            <a:blip r:embed="rId5"/>
            <a:stretch>
              <a:fillRect l="-1994" t="0" r="-23" b="0"/>
            </a:stretch>
          </a:blipFill>
        </p:spPr>
      </p:sp>
      <p:sp>
        <p:nvSpPr>
          <p:cNvPr name="TextBox 8" id="8"/>
          <p:cNvSpPr txBox="true"/>
          <p:nvPr/>
        </p:nvSpPr>
        <p:spPr>
          <a:xfrm rot="0">
            <a:off x="2571750" y="1952625"/>
            <a:ext cx="7186375"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JOBS MARKET</a:t>
            </a:r>
          </a:p>
        </p:txBody>
      </p:sp>
      <p:sp>
        <p:nvSpPr>
          <p:cNvPr name="TextBox 9" id="9"/>
          <p:cNvSpPr txBox="true"/>
          <p:nvPr/>
        </p:nvSpPr>
        <p:spPr>
          <a:xfrm rot="0">
            <a:off x="3760722" y="8551409"/>
            <a:ext cx="3827794"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REMOTE &amp; ON-SITE RATIO BY JOB</a:t>
            </a:r>
          </a:p>
        </p:txBody>
      </p:sp>
      <p:sp>
        <p:nvSpPr>
          <p:cNvPr name="TextBox 10" id="10"/>
          <p:cNvSpPr txBox="true"/>
          <p:nvPr/>
        </p:nvSpPr>
        <p:spPr>
          <a:xfrm rot="0">
            <a:off x="12290600" y="8551409"/>
            <a:ext cx="3827794"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MEDIAN SALARY BY JOB FIELD</a:t>
            </a:r>
          </a:p>
        </p:txBody>
      </p:sp>
    </p:spTree>
  </p:cSld>
  <p:clrMapOvr>
    <a:masterClrMapping/>
  </p:clrMapOvr>
  <p:transition spd="slow">
    <p:push dir="u"/>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964302" y="-3180331"/>
            <a:ext cx="22216605" cy="9419840"/>
          </a:xfrm>
          <a:custGeom>
            <a:avLst/>
            <a:gdLst/>
            <a:ahLst/>
            <a:cxnLst/>
            <a:rect r="r" b="b" t="t" l="l"/>
            <a:pathLst>
              <a:path h="9419840" w="22216605">
                <a:moveTo>
                  <a:pt x="22216604" y="0"/>
                </a:moveTo>
                <a:lnTo>
                  <a:pt x="0" y="0"/>
                </a:lnTo>
                <a:lnTo>
                  <a:pt x="0" y="9419841"/>
                </a:lnTo>
                <a:lnTo>
                  <a:pt x="22216604" y="9419841"/>
                </a:lnTo>
                <a:lnTo>
                  <a:pt x="22216604" y="0"/>
                </a:lnTo>
                <a:close/>
              </a:path>
            </a:pathLst>
          </a:custGeom>
          <a:blipFill>
            <a:blip r:embed="rId3">
              <a:alphaModFix amt="60000"/>
            </a:blip>
            <a:stretch>
              <a:fillRect l="0" t="0" r="0" b="0"/>
            </a:stretch>
          </a:blipFill>
        </p:spPr>
      </p:sp>
      <p:sp>
        <p:nvSpPr>
          <p:cNvPr name="AutoShape 3" id="3"/>
          <p:cNvSpPr/>
          <p:nvPr/>
        </p:nvSpPr>
        <p:spPr>
          <a:xfrm flipV="true">
            <a:off x="1651003" y="3802689"/>
            <a:ext cx="0" cy="2462166"/>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2018309" y="1053465"/>
            <a:ext cx="14251382" cy="7985380"/>
          </a:xfrm>
          <a:custGeom>
            <a:avLst/>
            <a:gdLst/>
            <a:ahLst/>
            <a:cxnLst/>
            <a:rect r="r" b="b" t="t" l="l"/>
            <a:pathLst>
              <a:path h="7985380" w="14251382">
                <a:moveTo>
                  <a:pt x="0" y="0"/>
                </a:moveTo>
                <a:lnTo>
                  <a:pt x="14251382" y="0"/>
                </a:lnTo>
                <a:lnTo>
                  <a:pt x="14251382" y="7985380"/>
                </a:lnTo>
                <a:lnTo>
                  <a:pt x="0" y="7985380"/>
                </a:lnTo>
                <a:lnTo>
                  <a:pt x="0" y="0"/>
                </a:lnTo>
                <a:close/>
              </a:path>
            </a:pathLst>
          </a:custGeom>
          <a:blipFill>
            <a:blip r:embed="rId4"/>
            <a:stretch>
              <a:fillRect l="-184" t="-310" r="-184" b="0"/>
            </a:stretch>
          </a:blipFill>
        </p:spPr>
      </p:sp>
      <p:sp>
        <p:nvSpPr>
          <p:cNvPr name="AutoShape 5" id="5"/>
          <p:cNvSpPr/>
          <p:nvPr/>
        </p:nvSpPr>
        <p:spPr>
          <a:xfrm flipH="true" flipV="true">
            <a:off x="18034443" y="4362651"/>
            <a:ext cx="0" cy="1342242"/>
          </a:xfrm>
          <a:prstGeom prst="line">
            <a:avLst/>
          </a:prstGeom>
          <a:ln cap="flat" w="38100">
            <a:solidFill>
              <a:srgbClr val="D2B99A"/>
            </a:solidFill>
            <a:prstDash val="solid"/>
            <a:headEnd type="none" len="sm" w="sm"/>
            <a:tailEnd type="none" len="sm" w="sm"/>
          </a:ln>
        </p:spPr>
      </p:sp>
      <p:sp>
        <p:nvSpPr>
          <p:cNvPr name="TextBox 6" id="6"/>
          <p:cNvSpPr txBox="true"/>
          <p:nvPr/>
        </p:nvSpPr>
        <p:spPr>
          <a:xfrm rot="-5400000">
            <a:off x="-2868156" y="4634040"/>
            <a:ext cx="8010145"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EXPREIENCE &amp; COMPAY</a:t>
            </a:r>
          </a:p>
        </p:txBody>
      </p:sp>
      <p:sp>
        <p:nvSpPr>
          <p:cNvPr name="TextBox 7" id="7"/>
          <p:cNvSpPr txBox="true"/>
          <p:nvPr/>
        </p:nvSpPr>
        <p:spPr>
          <a:xfrm rot="-5400000">
            <a:off x="13515338" y="4634040"/>
            <a:ext cx="8010145" cy="799465"/>
          </a:xfrm>
          <a:prstGeom prst="rect">
            <a:avLst/>
          </a:prstGeom>
        </p:spPr>
        <p:txBody>
          <a:bodyPr anchor="t" rtlCol="false" tIns="0" lIns="0" bIns="0" rIns="0">
            <a:spAutoFit/>
          </a:bodyPr>
          <a:lstStyle/>
          <a:p>
            <a:pPr algn="ctr">
              <a:lnSpc>
                <a:spcPts val="5600"/>
              </a:lnSpc>
            </a:pPr>
            <a:r>
              <a:rPr lang="en-US" sz="5600">
                <a:solidFill>
                  <a:srgbClr val="FFFFFF"/>
                </a:solidFill>
                <a:latin typeface="Poppins Light"/>
                <a:ea typeface="Poppins Light"/>
                <a:cs typeface="Poppins Light"/>
                <a:sym typeface="Poppins Light"/>
              </a:rPr>
              <a:t>IMPACT</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964302" y="-3180331"/>
            <a:ext cx="22216605" cy="9419840"/>
          </a:xfrm>
          <a:custGeom>
            <a:avLst/>
            <a:gdLst/>
            <a:ahLst/>
            <a:cxnLst/>
            <a:rect r="r" b="b" t="t" l="l"/>
            <a:pathLst>
              <a:path h="9419840" w="22216605">
                <a:moveTo>
                  <a:pt x="22216604" y="0"/>
                </a:moveTo>
                <a:lnTo>
                  <a:pt x="0" y="0"/>
                </a:lnTo>
                <a:lnTo>
                  <a:pt x="0" y="9419841"/>
                </a:lnTo>
                <a:lnTo>
                  <a:pt x="22216604" y="9419841"/>
                </a:lnTo>
                <a:lnTo>
                  <a:pt x="22216604" y="0"/>
                </a:lnTo>
                <a:close/>
              </a:path>
            </a:pathLst>
          </a:custGeom>
          <a:blipFill>
            <a:blip r:embed="rId3">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1591116" y="3407005"/>
            <a:ext cx="8167006" cy="4871740"/>
          </a:xfrm>
          <a:custGeom>
            <a:avLst/>
            <a:gdLst/>
            <a:ahLst/>
            <a:cxnLst/>
            <a:rect r="r" b="b" t="t" l="l"/>
            <a:pathLst>
              <a:path h="4871740" w="8167006">
                <a:moveTo>
                  <a:pt x="0" y="0"/>
                </a:moveTo>
                <a:lnTo>
                  <a:pt x="8167006" y="0"/>
                </a:lnTo>
                <a:lnTo>
                  <a:pt x="8167006" y="4871740"/>
                </a:lnTo>
                <a:lnTo>
                  <a:pt x="0" y="4871740"/>
                </a:lnTo>
                <a:lnTo>
                  <a:pt x="0" y="0"/>
                </a:lnTo>
                <a:close/>
              </a:path>
            </a:pathLst>
          </a:custGeom>
          <a:blipFill>
            <a:blip r:embed="rId4"/>
            <a:stretch>
              <a:fillRect l="0" t="-1130" r="0" b="-1130"/>
            </a:stretch>
          </a:blipFill>
        </p:spPr>
      </p:sp>
      <p:sp>
        <p:nvSpPr>
          <p:cNvPr name="AutoShape 5" id="5"/>
          <p:cNvSpPr/>
          <p:nvPr/>
        </p:nvSpPr>
        <p:spPr>
          <a:xfrm>
            <a:off x="4976026" y="8842349"/>
            <a:ext cx="1397185" cy="0"/>
          </a:xfrm>
          <a:prstGeom prst="line">
            <a:avLst/>
          </a:prstGeom>
          <a:ln cap="flat" w="28575">
            <a:solidFill>
              <a:srgbClr val="D2B99A"/>
            </a:solidFill>
            <a:prstDash val="solid"/>
            <a:headEnd type="none" len="sm" w="sm"/>
            <a:tailEnd type="none" len="sm" w="sm"/>
          </a:ln>
        </p:spPr>
      </p:sp>
      <p:sp>
        <p:nvSpPr>
          <p:cNvPr name="AutoShape 6" id="6"/>
          <p:cNvSpPr/>
          <p:nvPr/>
        </p:nvSpPr>
        <p:spPr>
          <a:xfrm>
            <a:off x="13505904" y="8842349"/>
            <a:ext cx="1397185" cy="0"/>
          </a:xfrm>
          <a:prstGeom prst="line">
            <a:avLst/>
          </a:prstGeom>
          <a:ln cap="flat" w="28575">
            <a:solidFill>
              <a:srgbClr val="D2B99A"/>
            </a:solidFill>
            <a:prstDash val="solid"/>
            <a:headEnd type="none" len="sm" w="sm"/>
            <a:tailEnd type="none" len="sm" w="sm"/>
          </a:ln>
        </p:spPr>
      </p:sp>
      <p:sp>
        <p:nvSpPr>
          <p:cNvPr name="Freeform 7" id="7"/>
          <p:cNvSpPr/>
          <p:nvPr/>
        </p:nvSpPr>
        <p:spPr>
          <a:xfrm flipH="false" flipV="false" rot="0">
            <a:off x="10128471" y="3507372"/>
            <a:ext cx="7987891" cy="4671005"/>
          </a:xfrm>
          <a:custGeom>
            <a:avLst/>
            <a:gdLst/>
            <a:ahLst/>
            <a:cxnLst/>
            <a:rect r="r" b="b" t="t" l="l"/>
            <a:pathLst>
              <a:path h="4671005" w="7987891">
                <a:moveTo>
                  <a:pt x="0" y="0"/>
                </a:moveTo>
                <a:lnTo>
                  <a:pt x="7987891" y="0"/>
                </a:lnTo>
                <a:lnTo>
                  <a:pt x="7987891" y="4671006"/>
                </a:lnTo>
                <a:lnTo>
                  <a:pt x="0" y="4671006"/>
                </a:lnTo>
                <a:lnTo>
                  <a:pt x="0" y="0"/>
                </a:lnTo>
                <a:close/>
              </a:path>
            </a:pathLst>
          </a:custGeom>
          <a:blipFill>
            <a:blip r:embed="rId5"/>
            <a:stretch>
              <a:fillRect l="-1294" t="0" r="-1294" b="0"/>
            </a:stretch>
          </a:blipFill>
        </p:spPr>
      </p:sp>
      <p:sp>
        <p:nvSpPr>
          <p:cNvPr name="TextBox 8" id="8"/>
          <p:cNvSpPr txBox="true"/>
          <p:nvPr/>
        </p:nvSpPr>
        <p:spPr>
          <a:xfrm rot="0">
            <a:off x="2571750" y="1952625"/>
            <a:ext cx="7186375"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DATA JOBS MARKET</a:t>
            </a:r>
          </a:p>
        </p:txBody>
      </p:sp>
      <p:sp>
        <p:nvSpPr>
          <p:cNvPr name="TextBox 9" id="9"/>
          <p:cNvSpPr txBox="true"/>
          <p:nvPr/>
        </p:nvSpPr>
        <p:spPr>
          <a:xfrm rot="0">
            <a:off x="3300407" y="8551409"/>
            <a:ext cx="4748423"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COUNT OF COMPANIES IN EACH COUNTRY</a:t>
            </a:r>
          </a:p>
        </p:txBody>
      </p:sp>
      <p:sp>
        <p:nvSpPr>
          <p:cNvPr name="TextBox 10" id="10"/>
          <p:cNvSpPr txBox="true"/>
          <p:nvPr/>
        </p:nvSpPr>
        <p:spPr>
          <a:xfrm rot="0">
            <a:off x="11950367" y="8551409"/>
            <a:ext cx="4508259"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COUNT OF WORK TYPE IN EACH COUNTRY</a:t>
            </a:r>
          </a:p>
        </p:txBody>
      </p:sp>
    </p:spTree>
  </p:cSld>
  <p:clrMapOvr>
    <a:masterClrMapping/>
  </p:clrMapOvr>
  <p:transition spd="slow">
    <p:cover dir="ld"/>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964302" y="-3180331"/>
            <a:ext cx="22216605" cy="9419840"/>
          </a:xfrm>
          <a:custGeom>
            <a:avLst/>
            <a:gdLst/>
            <a:ahLst/>
            <a:cxnLst/>
            <a:rect r="r" b="b" t="t" l="l"/>
            <a:pathLst>
              <a:path h="9419840" w="22216605">
                <a:moveTo>
                  <a:pt x="22216604" y="0"/>
                </a:moveTo>
                <a:lnTo>
                  <a:pt x="0" y="0"/>
                </a:lnTo>
                <a:lnTo>
                  <a:pt x="0" y="9419841"/>
                </a:lnTo>
                <a:lnTo>
                  <a:pt x="22216604" y="9419841"/>
                </a:lnTo>
                <a:lnTo>
                  <a:pt x="22216604" y="0"/>
                </a:lnTo>
                <a:close/>
              </a:path>
            </a:pathLst>
          </a:custGeom>
          <a:blipFill>
            <a:blip r:embed="rId3">
              <a:alphaModFix amt="60000"/>
            </a:blip>
            <a:stretch>
              <a:fillRect l="0" t="0" r="0" b="0"/>
            </a:stretch>
          </a:blipFill>
        </p:spPr>
      </p:sp>
      <p:sp>
        <p:nvSpPr>
          <p:cNvPr name="AutoShape 3" id="3"/>
          <p:cNvSpPr/>
          <p:nvPr/>
        </p:nvSpPr>
        <p:spPr>
          <a:xfrm>
            <a:off x="2571750" y="2866444"/>
            <a:ext cx="567898" cy="0"/>
          </a:xfrm>
          <a:prstGeom prst="line">
            <a:avLst/>
          </a:prstGeom>
          <a:ln cap="flat" w="38100">
            <a:solidFill>
              <a:srgbClr val="D2B99A"/>
            </a:solidFill>
            <a:prstDash val="solid"/>
            <a:headEnd type="none" len="sm" w="sm"/>
            <a:tailEnd type="none" len="sm" w="sm"/>
          </a:ln>
        </p:spPr>
      </p:sp>
      <p:sp>
        <p:nvSpPr>
          <p:cNvPr name="Freeform 4" id="4"/>
          <p:cNvSpPr/>
          <p:nvPr/>
        </p:nvSpPr>
        <p:spPr>
          <a:xfrm flipH="false" flipV="false" rot="0">
            <a:off x="1591116" y="3407005"/>
            <a:ext cx="8167006" cy="4871740"/>
          </a:xfrm>
          <a:custGeom>
            <a:avLst/>
            <a:gdLst/>
            <a:ahLst/>
            <a:cxnLst/>
            <a:rect r="r" b="b" t="t" l="l"/>
            <a:pathLst>
              <a:path h="4871740" w="8167006">
                <a:moveTo>
                  <a:pt x="0" y="0"/>
                </a:moveTo>
                <a:lnTo>
                  <a:pt x="8167006" y="0"/>
                </a:lnTo>
                <a:lnTo>
                  <a:pt x="8167006" y="4871740"/>
                </a:lnTo>
                <a:lnTo>
                  <a:pt x="0" y="4871740"/>
                </a:lnTo>
                <a:lnTo>
                  <a:pt x="0" y="0"/>
                </a:lnTo>
                <a:close/>
              </a:path>
            </a:pathLst>
          </a:custGeom>
          <a:blipFill>
            <a:blip r:embed="rId4"/>
            <a:stretch>
              <a:fillRect l="-1870" t="0" r="-1870" b="0"/>
            </a:stretch>
          </a:blipFill>
        </p:spPr>
      </p:sp>
      <p:sp>
        <p:nvSpPr>
          <p:cNvPr name="AutoShape 5" id="5"/>
          <p:cNvSpPr/>
          <p:nvPr/>
        </p:nvSpPr>
        <p:spPr>
          <a:xfrm>
            <a:off x="4976026" y="8842349"/>
            <a:ext cx="1397185" cy="0"/>
          </a:xfrm>
          <a:prstGeom prst="line">
            <a:avLst/>
          </a:prstGeom>
          <a:ln cap="flat" w="28575">
            <a:solidFill>
              <a:srgbClr val="D2B99A"/>
            </a:solidFill>
            <a:prstDash val="solid"/>
            <a:headEnd type="none" len="sm" w="sm"/>
            <a:tailEnd type="none" len="sm" w="sm"/>
          </a:ln>
        </p:spPr>
      </p:sp>
      <p:sp>
        <p:nvSpPr>
          <p:cNvPr name="AutoShape 6" id="6"/>
          <p:cNvSpPr/>
          <p:nvPr/>
        </p:nvSpPr>
        <p:spPr>
          <a:xfrm>
            <a:off x="13505904" y="8842349"/>
            <a:ext cx="1397185" cy="0"/>
          </a:xfrm>
          <a:prstGeom prst="line">
            <a:avLst/>
          </a:prstGeom>
          <a:ln cap="flat" w="28575">
            <a:solidFill>
              <a:srgbClr val="D2B99A"/>
            </a:solidFill>
            <a:prstDash val="solid"/>
            <a:headEnd type="none" len="sm" w="sm"/>
            <a:tailEnd type="none" len="sm" w="sm"/>
          </a:ln>
        </p:spPr>
      </p:sp>
      <p:sp>
        <p:nvSpPr>
          <p:cNvPr name="Freeform 7" id="7"/>
          <p:cNvSpPr/>
          <p:nvPr/>
        </p:nvSpPr>
        <p:spPr>
          <a:xfrm flipH="false" flipV="false" rot="0">
            <a:off x="10128471" y="3507372"/>
            <a:ext cx="7987891" cy="4671005"/>
          </a:xfrm>
          <a:custGeom>
            <a:avLst/>
            <a:gdLst/>
            <a:ahLst/>
            <a:cxnLst/>
            <a:rect r="r" b="b" t="t" l="l"/>
            <a:pathLst>
              <a:path h="4671005" w="7987891">
                <a:moveTo>
                  <a:pt x="0" y="0"/>
                </a:moveTo>
                <a:lnTo>
                  <a:pt x="7987891" y="0"/>
                </a:lnTo>
                <a:lnTo>
                  <a:pt x="7987891" y="4671006"/>
                </a:lnTo>
                <a:lnTo>
                  <a:pt x="0" y="4671006"/>
                </a:lnTo>
                <a:lnTo>
                  <a:pt x="0" y="0"/>
                </a:lnTo>
                <a:close/>
              </a:path>
            </a:pathLst>
          </a:custGeom>
          <a:blipFill>
            <a:blip r:embed="rId5"/>
            <a:stretch>
              <a:fillRect l="-11282" t="0" r="-2262" b="0"/>
            </a:stretch>
          </a:blipFill>
        </p:spPr>
      </p:sp>
      <p:sp>
        <p:nvSpPr>
          <p:cNvPr name="TextBox 8" id="8"/>
          <p:cNvSpPr txBox="true"/>
          <p:nvPr/>
        </p:nvSpPr>
        <p:spPr>
          <a:xfrm rot="0">
            <a:off x="3300407" y="8551409"/>
            <a:ext cx="4748423"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SALARY BY EMPLOYMENT TYPE</a:t>
            </a:r>
          </a:p>
        </p:txBody>
      </p:sp>
      <p:sp>
        <p:nvSpPr>
          <p:cNvPr name="TextBox 9" id="9"/>
          <p:cNvSpPr txBox="true"/>
          <p:nvPr/>
        </p:nvSpPr>
        <p:spPr>
          <a:xfrm rot="0">
            <a:off x="11950367" y="8551409"/>
            <a:ext cx="4508259" cy="252062"/>
          </a:xfrm>
          <a:prstGeom prst="rect">
            <a:avLst/>
          </a:prstGeom>
        </p:spPr>
        <p:txBody>
          <a:bodyPr anchor="t" rtlCol="false" tIns="0" lIns="0" bIns="0" rIns="0">
            <a:spAutoFit/>
          </a:bodyPr>
          <a:lstStyle/>
          <a:p>
            <a:pPr algn="ctr">
              <a:lnSpc>
                <a:spcPts val="1795"/>
              </a:lnSpc>
            </a:pPr>
            <a:r>
              <a:rPr lang="en-US" sz="1795">
                <a:solidFill>
                  <a:srgbClr val="FFFFFF"/>
                </a:solidFill>
                <a:latin typeface="Poppins Light"/>
                <a:ea typeface="Poppins Light"/>
                <a:cs typeface="Poppins Light"/>
                <a:sym typeface="Poppins Light"/>
              </a:rPr>
              <a:t>SALARY BY WORK TYPE</a:t>
            </a:r>
          </a:p>
        </p:txBody>
      </p:sp>
      <p:sp>
        <p:nvSpPr>
          <p:cNvPr name="TextBox 10" id="10"/>
          <p:cNvSpPr txBox="true"/>
          <p:nvPr/>
        </p:nvSpPr>
        <p:spPr>
          <a:xfrm rot="0">
            <a:off x="2571750" y="1952625"/>
            <a:ext cx="7186375"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IMPACT ON SALARY</a:t>
            </a:r>
          </a:p>
        </p:txBody>
      </p:sp>
    </p:spTree>
  </p:cSld>
  <p:clrMapOvr>
    <a:masterClrMapping/>
  </p:clrMapOvr>
  <p:transition spd="slow">
    <p:cover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71750" y="1905000"/>
            <a:ext cx="13144500" cy="5573268"/>
          </a:xfrm>
          <a:custGeom>
            <a:avLst/>
            <a:gdLst/>
            <a:ahLst/>
            <a:cxnLst/>
            <a:rect r="r" b="b" t="t" l="l"/>
            <a:pathLst>
              <a:path h="5573268" w="13144500">
                <a:moveTo>
                  <a:pt x="0" y="0"/>
                </a:moveTo>
                <a:lnTo>
                  <a:pt x="13144500" y="0"/>
                </a:lnTo>
                <a:lnTo>
                  <a:pt x="13144500" y="5573268"/>
                </a:lnTo>
                <a:lnTo>
                  <a:pt x="0" y="5573268"/>
                </a:lnTo>
                <a:lnTo>
                  <a:pt x="0" y="0"/>
                </a:lnTo>
                <a:close/>
              </a:path>
            </a:pathLst>
          </a:custGeom>
          <a:blipFill>
            <a:blip r:embed="rId2">
              <a:alphaModFix amt="60000"/>
            </a:blip>
            <a:stretch>
              <a:fillRect l="0" t="0" r="0" b="0"/>
            </a:stretch>
          </a:blipFill>
        </p:spPr>
      </p:sp>
      <p:sp>
        <p:nvSpPr>
          <p:cNvPr name="TextBox 3" id="3"/>
          <p:cNvSpPr txBox="true"/>
          <p:nvPr/>
        </p:nvSpPr>
        <p:spPr>
          <a:xfrm rot="0">
            <a:off x="2571750" y="2607999"/>
            <a:ext cx="702602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KEY I</a:t>
            </a:r>
            <a:r>
              <a:rPr lang="en-US" sz="5600">
                <a:solidFill>
                  <a:srgbClr val="FFFFFF"/>
                </a:solidFill>
                <a:latin typeface="Poppins Light"/>
                <a:ea typeface="Poppins Light"/>
                <a:cs typeface="Poppins Light"/>
                <a:sym typeface="Poppins Light"/>
              </a:rPr>
              <a:t>NSIGHTS</a:t>
            </a:r>
          </a:p>
        </p:txBody>
      </p:sp>
      <p:sp>
        <p:nvSpPr>
          <p:cNvPr name="AutoShape 4" id="4"/>
          <p:cNvSpPr/>
          <p:nvPr/>
        </p:nvSpPr>
        <p:spPr>
          <a:xfrm>
            <a:off x="2571750" y="3521818"/>
            <a:ext cx="567898" cy="0"/>
          </a:xfrm>
          <a:prstGeom prst="line">
            <a:avLst/>
          </a:prstGeom>
          <a:ln cap="flat" w="38100">
            <a:solidFill>
              <a:srgbClr val="D2B99A"/>
            </a:solidFill>
            <a:prstDash val="solid"/>
            <a:headEnd type="none" len="sm" w="sm"/>
            <a:tailEnd type="none" len="sm" w="sm"/>
          </a:ln>
        </p:spPr>
      </p:sp>
      <p:sp>
        <p:nvSpPr>
          <p:cNvPr name="TextBox 5" id="5"/>
          <p:cNvSpPr txBox="true"/>
          <p:nvPr/>
        </p:nvSpPr>
        <p:spPr>
          <a:xfrm rot="0">
            <a:off x="2571750" y="4173149"/>
            <a:ext cx="4972164" cy="1489710"/>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1- The AI &amp; Data market expanded in both job volume and salaries, while salary levels remained relatively close across data roles.</a:t>
            </a:r>
          </a:p>
        </p:txBody>
      </p:sp>
      <p:sp>
        <p:nvSpPr>
          <p:cNvPr name="TextBox 6" id="6"/>
          <p:cNvSpPr txBox="true"/>
          <p:nvPr/>
        </p:nvSpPr>
        <p:spPr>
          <a:xfrm rot="0">
            <a:off x="6777621" y="6519101"/>
            <a:ext cx="5640298" cy="186118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3- Medium-sized companies recorded higher average salaries, but company-size comparisons should be interpreted with caution due to uneven job representation.</a:t>
            </a:r>
          </a:p>
        </p:txBody>
      </p:sp>
      <p:sp>
        <p:nvSpPr>
          <p:cNvPr name="TextBox 7" id="7"/>
          <p:cNvSpPr txBox="true"/>
          <p:nvPr/>
        </p:nvSpPr>
        <p:spPr>
          <a:xfrm rot="0">
            <a:off x="11467058" y="4173149"/>
            <a:ext cx="4842848" cy="1118235"/>
          </a:xfrm>
          <a:prstGeom prst="rect">
            <a:avLst/>
          </a:prstGeom>
        </p:spPr>
        <p:txBody>
          <a:bodyPr anchor="t" rtlCol="false" tIns="0" lIns="0" bIns="0" rIns="0">
            <a:spAutoFit/>
          </a:bodyPr>
          <a:lstStyle/>
          <a:p>
            <a:pPr algn="l">
              <a:lnSpc>
                <a:spcPts val="2940"/>
              </a:lnSpc>
            </a:pPr>
            <a:r>
              <a:rPr lang="en-US" sz="2100">
                <a:solidFill>
                  <a:srgbClr val="FFFFFF"/>
                </a:solidFill>
                <a:latin typeface="Poppins"/>
                <a:ea typeface="Poppins"/>
                <a:cs typeface="Poppins"/>
                <a:sym typeface="Poppins"/>
              </a:rPr>
              <a:t>2- Seniority is a key salary driver, with On-site and Full-time roles showing higher median salaries.</a:t>
            </a:r>
          </a:p>
        </p:txBody>
      </p:sp>
    </p:spTree>
  </p:cSld>
  <p:clrMapOvr>
    <a:masterClrMapping/>
  </p:clrMapOvr>
  <p:transition spd="slow">
    <p:cover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71750" y="1905000"/>
            <a:ext cx="13144500" cy="5573268"/>
          </a:xfrm>
          <a:custGeom>
            <a:avLst/>
            <a:gdLst/>
            <a:ahLst/>
            <a:cxnLst/>
            <a:rect r="r" b="b" t="t" l="l"/>
            <a:pathLst>
              <a:path h="5573268" w="13144500">
                <a:moveTo>
                  <a:pt x="0" y="0"/>
                </a:moveTo>
                <a:lnTo>
                  <a:pt x="13144500" y="0"/>
                </a:lnTo>
                <a:lnTo>
                  <a:pt x="13144500" y="5573268"/>
                </a:lnTo>
                <a:lnTo>
                  <a:pt x="0" y="5573268"/>
                </a:lnTo>
                <a:lnTo>
                  <a:pt x="0" y="0"/>
                </a:lnTo>
                <a:close/>
              </a:path>
            </a:pathLst>
          </a:custGeom>
          <a:blipFill>
            <a:blip r:embed="rId2">
              <a:alphaModFix amt="60000"/>
            </a:blip>
            <a:stretch>
              <a:fillRect l="0" t="0" r="0" b="0"/>
            </a:stretch>
          </a:blipFill>
        </p:spPr>
      </p:sp>
      <p:sp>
        <p:nvSpPr>
          <p:cNvPr name="TextBox 3" id="3"/>
          <p:cNvSpPr txBox="true"/>
          <p:nvPr/>
        </p:nvSpPr>
        <p:spPr>
          <a:xfrm rot="0">
            <a:off x="2571750" y="2607999"/>
            <a:ext cx="7026020" cy="799465"/>
          </a:xfrm>
          <a:prstGeom prst="rect">
            <a:avLst/>
          </a:prstGeom>
        </p:spPr>
        <p:txBody>
          <a:bodyPr anchor="t" rtlCol="false" tIns="0" lIns="0" bIns="0" rIns="0">
            <a:spAutoFit/>
          </a:bodyPr>
          <a:lstStyle/>
          <a:p>
            <a:pPr algn="l">
              <a:lnSpc>
                <a:spcPts val="5600"/>
              </a:lnSpc>
            </a:pPr>
            <a:r>
              <a:rPr lang="en-US" sz="5600">
                <a:solidFill>
                  <a:srgbClr val="FFFFFF"/>
                </a:solidFill>
                <a:latin typeface="Poppins Light"/>
                <a:ea typeface="Poppins Light"/>
                <a:cs typeface="Poppins Light"/>
                <a:sym typeface="Poppins Light"/>
              </a:rPr>
              <a:t>CONTACT ME</a:t>
            </a:r>
          </a:p>
        </p:txBody>
      </p:sp>
      <p:sp>
        <p:nvSpPr>
          <p:cNvPr name="TextBox 4" id="4"/>
          <p:cNvSpPr txBox="true"/>
          <p:nvPr/>
        </p:nvSpPr>
        <p:spPr>
          <a:xfrm rot="0">
            <a:off x="6037241" y="4308709"/>
            <a:ext cx="6145993" cy="1793408"/>
          </a:xfrm>
          <a:prstGeom prst="rect">
            <a:avLst/>
          </a:prstGeom>
        </p:spPr>
        <p:txBody>
          <a:bodyPr anchor="t" rtlCol="false" tIns="0" lIns="0" bIns="0" rIns="0">
            <a:spAutoFit/>
          </a:bodyPr>
          <a:lstStyle/>
          <a:p>
            <a:pPr algn="l">
              <a:lnSpc>
                <a:spcPts val="12674"/>
              </a:lnSpc>
            </a:pPr>
            <a:r>
              <a:rPr lang="en-US" sz="12674">
                <a:solidFill>
                  <a:srgbClr val="FFFFFF"/>
                </a:solidFill>
                <a:latin typeface="Poppins Light"/>
                <a:ea typeface="Poppins Light"/>
                <a:cs typeface="Poppins Light"/>
                <a:sym typeface="Poppins Light"/>
              </a:rPr>
              <a:t>THANKS</a:t>
            </a:r>
          </a:p>
        </p:txBody>
      </p:sp>
      <p:sp>
        <p:nvSpPr>
          <p:cNvPr name="AutoShape 5" id="5"/>
          <p:cNvSpPr/>
          <p:nvPr/>
        </p:nvSpPr>
        <p:spPr>
          <a:xfrm>
            <a:off x="2571750" y="3521818"/>
            <a:ext cx="567898" cy="0"/>
          </a:xfrm>
          <a:prstGeom prst="line">
            <a:avLst/>
          </a:prstGeom>
          <a:ln cap="flat" w="38100">
            <a:solidFill>
              <a:srgbClr val="D2B99A"/>
            </a:solidFill>
            <a:prstDash val="solid"/>
            <a:headEnd type="none" len="sm" w="sm"/>
            <a:tailEnd type="none" len="sm" w="sm"/>
          </a:ln>
        </p:spPr>
      </p:sp>
      <p:sp>
        <p:nvSpPr>
          <p:cNvPr name="TextBox 6" id="6"/>
          <p:cNvSpPr txBox="true"/>
          <p:nvPr/>
        </p:nvSpPr>
        <p:spPr>
          <a:xfrm rot="0">
            <a:off x="2571750" y="7572692"/>
            <a:ext cx="998558"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Phone</a:t>
            </a:r>
          </a:p>
        </p:txBody>
      </p:sp>
      <p:sp>
        <p:nvSpPr>
          <p:cNvPr name="TextBox 7" id="7"/>
          <p:cNvSpPr txBox="true"/>
          <p:nvPr/>
        </p:nvSpPr>
        <p:spPr>
          <a:xfrm rot="0">
            <a:off x="12183235" y="7584439"/>
            <a:ext cx="880027" cy="424815"/>
          </a:xfrm>
          <a:prstGeom prst="rect">
            <a:avLst/>
          </a:prstGeom>
        </p:spPr>
        <p:txBody>
          <a:bodyPr anchor="t" rtlCol="false" tIns="0" lIns="0" bIns="0" rIns="0">
            <a:spAutoFit/>
          </a:bodyPr>
          <a:lstStyle/>
          <a:p>
            <a:pPr algn="l">
              <a:lnSpc>
                <a:spcPts val="3359"/>
              </a:lnSpc>
            </a:pPr>
            <a:r>
              <a:rPr lang="en-US" sz="2399">
                <a:solidFill>
                  <a:srgbClr val="FFFFFF"/>
                </a:solidFill>
                <a:latin typeface="Poppins"/>
                <a:ea typeface="Poppins"/>
                <a:cs typeface="Poppins"/>
                <a:sym typeface="Poppins"/>
              </a:rPr>
              <a:t>Email</a:t>
            </a:r>
          </a:p>
        </p:txBody>
      </p:sp>
      <p:sp>
        <p:nvSpPr>
          <p:cNvPr name="TextBox 8" id="8"/>
          <p:cNvSpPr txBox="true"/>
          <p:nvPr/>
        </p:nvSpPr>
        <p:spPr>
          <a:xfrm rot="0">
            <a:off x="2571750" y="7990205"/>
            <a:ext cx="2074664"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+201152987989</a:t>
            </a:r>
          </a:p>
        </p:txBody>
      </p:sp>
      <p:sp>
        <p:nvSpPr>
          <p:cNvPr name="TextBox 9" id="9"/>
          <p:cNvSpPr txBox="true"/>
          <p:nvPr/>
        </p:nvSpPr>
        <p:spPr>
          <a:xfrm rot="0">
            <a:off x="12183235" y="8001952"/>
            <a:ext cx="5076065" cy="391795"/>
          </a:xfrm>
          <a:prstGeom prst="rect">
            <a:avLst/>
          </a:prstGeom>
        </p:spPr>
        <p:txBody>
          <a:bodyPr anchor="t" rtlCol="false" tIns="0" lIns="0" bIns="0" rIns="0">
            <a:spAutoFit/>
          </a:bodyPr>
          <a:lstStyle/>
          <a:p>
            <a:pPr algn="l">
              <a:lnSpc>
                <a:spcPts val="3079"/>
              </a:lnSpc>
            </a:pPr>
            <a:r>
              <a:rPr lang="en-US" sz="2199">
                <a:solidFill>
                  <a:srgbClr val="C3C5C6"/>
                </a:solidFill>
                <a:latin typeface="Poppins Light"/>
                <a:ea typeface="Poppins Light"/>
                <a:cs typeface="Poppins Light"/>
                <a:sym typeface="Poppins Light"/>
              </a:rPr>
              <a:t>mahmoudsoliman1503@gmail.com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DAHVSj4Vch0</dc:identifier>
  <dcterms:modified xsi:type="dcterms:W3CDTF">2011-08-01T06:04:30Z</dcterms:modified>
  <cp:revision>1</cp:revision>
  <dc:title>Dark Blue Gradient Modern Professional Presentation</dc:title>
</cp:coreProperties>
</file>